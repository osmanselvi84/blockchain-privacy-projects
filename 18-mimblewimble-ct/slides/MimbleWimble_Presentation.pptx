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state the topic. Don't dwell. Open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30 seconds. Don't go deep on Monero/Zcash. If the prof asks for the survey reference, cite Bernabe et al. 2019 IEEE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origin = Voldemort's name in French. MimbleWimble is a tongue-tying spell from Harry Potter — the joke is the protocol prevents you from talking about transactions. Only mention if asked; don't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math meat. Speak briefly to each, don't read formulas verbatim. If the prof interrupts, be ready to elaborate on any one. Pedersen homomorphism is the most likely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each line matters' slide. Critical for theory questions. If asked 'why do you need a range proof?', this is the answer: prevents inflation via huge-positive (negative-equivalent)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how Tornado Cash, Aztec, and zk-rollups structure their work: heavy prover off-chain, lightweight verifier on-chain. This is the strongest part of the presentation — emphasize the architectural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Pre-clone everything on the presentation laptop. Pre-install deps. Don't waste demo time on `pip install`. Terminal font &gt;= 18pt so the back of the room can read it. If anything fails live, fall back to the pre-built examples/01_simple.json. Bonus: tamper one byte, re-run verify, show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scoping = stronger defense. Demonstrates understanding of what a full production implementation needs. Don't apologize for what's missing — frame as future work. Thank the audience.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2194560"/>
            <a:ext cx="11094415" cy="914400"/>
          </a:xfrm>
          <a:prstGeom prst="rect">
            <a:avLst/>
          </a:prstGeom>
          <a:noFill/>
          <a:ln/>
        </p:spPr>
        <p:txBody>
          <a:bodyPr wrap="square" lIns="0" tIns="0" rIns="0" bIns="0" rtlCol="0" anchor="ctr"/>
          <a:lstStyle/>
          <a:p>
            <a:pPr indent="0" marL="0">
              <a:buNone/>
            </a:pPr>
            <a:r>
              <a:rPr lang="en-US" sz="6000" b="1" dirty="0">
                <a:solidFill>
                  <a:srgbClr val="F0F0F0"/>
                </a:solidFill>
                <a:latin typeface="Calibri" pitchFamily="34" charset="0"/>
                <a:ea typeface="Calibri" pitchFamily="34" charset="-122"/>
                <a:cs typeface="Calibri" pitchFamily="34" charset="-120"/>
              </a:rPr>
              <a:t>MimbleWimble</a:t>
            </a:r>
            <a:endParaRPr lang="en-US" sz="6000" dirty="0"/>
          </a:p>
        </p:txBody>
      </p:sp>
      <p:sp>
        <p:nvSpPr>
          <p:cNvPr id="3" name="Text 1"/>
          <p:cNvSpPr/>
          <p:nvPr/>
        </p:nvSpPr>
        <p:spPr>
          <a:xfrm>
            <a:off x="548640" y="3063240"/>
            <a:ext cx="11094415" cy="640080"/>
          </a:xfrm>
          <a:prstGeom prst="rect">
            <a:avLst/>
          </a:prstGeom>
          <a:noFill/>
          <a:ln/>
        </p:spPr>
        <p:txBody>
          <a:bodyPr wrap="square" lIns="0" tIns="0" rIns="0" bIns="0" rtlCol="0" anchor="ctr"/>
          <a:lstStyle/>
          <a:p>
            <a:pPr indent="0" marL="0">
              <a:buNone/>
            </a:pPr>
            <a:r>
              <a:rPr lang="en-US" sz="3600" dirty="0">
                <a:solidFill>
                  <a:srgbClr val="7DD3FC"/>
                </a:solidFill>
                <a:latin typeface="Calibri" pitchFamily="34" charset="0"/>
                <a:ea typeface="Calibri" pitchFamily="34" charset="-122"/>
                <a:cs typeface="Calibri" pitchFamily="34" charset="-120"/>
              </a:rPr>
              <a:t>Confidential Transactions</a:t>
            </a:r>
            <a:endParaRPr lang="en-US" sz="3600" dirty="0"/>
          </a:p>
        </p:txBody>
      </p:sp>
      <p:sp>
        <p:nvSpPr>
          <p:cNvPr id="4" name="Text 2"/>
          <p:cNvSpPr/>
          <p:nvPr/>
        </p:nvSpPr>
        <p:spPr>
          <a:xfrm>
            <a:off x="548640" y="4206240"/>
            <a:ext cx="11094415" cy="365760"/>
          </a:xfrm>
          <a:prstGeom prst="rect">
            <a:avLst/>
          </a:prstGeom>
          <a:noFill/>
          <a:ln/>
        </p:spPr>
        <p:txBody>
          <a:bodyPr wrap="square" lIns="0" tIns="0" rIns="0" bIns="0" rtlCol="0" anchor="ctr"/>
          <a:lstStyle/>
          <a:p>
            <a:pPr indent="0" marL="0">
              <a:buNone/>
            </a:pPr>
            <a:r>
              <a:rPr lang="en-US" sz="1800" dirty="0">
                <a:solidFill>
                  <a:srgbClr val="8A95A1"/>
                </a:solidFill>
                <a:latin typeface="Calibri" pitchFamily="34" charset="0"/>
                <a:ea typeface="Calibri" pitchFamily="34" charset="-122"/>
                <a:cs typeface="Calibri" pitchFamily="34" charset="-120"/>
              </a:rPr>
              <a:t>COMP4052 — Introduction to Blockchain and DLT</a:t>
            </a:r>
            <a:endParaRPr lang="en-US" sz="1800" dirty="0"/>
          </a:p>
        </p:txBody>
      </p:sp>
      <p:sp>
        <p:nvSpPr>
          <p:cNvPr id="5" name="Text 3"/>
          <p:cNvSpPr/>
          <p:nvPr/>
        </p:nvSpPr>
        <p:spPr>
          <a:xfrm>
            <a:off x="548640" y="4617720"/>
            <a:ext cx="11094415" cy="365760"/>
          </a:xfrm>
          <a:prstGeom prst="rect">
            <a:avLst/>
          </a:prstGeom>
          <a:noFill/>
          <a:ln/>
        </p:spPr>
        <p:txBody>
          <a:bodyPr wrap="square" lIns="0" tIns="0" rIns="0" bIns="0" rtlCol="0" anchor="ctr"/>
          <a:lstStyle/>
          <a:p>
            <a:pPr indent="0" marL="0">
              <a:buNone/>
            </a:pPr>
            <a:r>
              <a:rPr lang="en-US" sz="1600" b="1" dirty="0">
                <a:solidFill>
                  <a:srgbClr val="F0F0F0"/>
                </a:solidFill>
                <a:latin typeface="Calibri" pitchFamily="34" charset="0"/>
                <a:ea typeface="Calibri" pitchFamily="34" charset="-122"/>
                <a:cs typeface="Calibri" pitchFamily="34" charset="-120"/>
              </a:rPr>
              <a:t>Ege Deniz</a:t>
            </a:r>
            <a:pPr indent="0" marL="0">
              <a:buNone/>
            </a:pPr>
            <a:r>
              <a:rPr lang="en-US" sz="1600" dirty="0">
                <a:solidFill>
                  <a:srgbClr val="8A95A1"/>
                </a:solidFill>
                <a:latin typeface="Calibri" pitchFamily="34" charset="0"/>
                <a:ea typeface="Calibri" pitchFamily="34" charset="-122"/>
                <a:cs typeface="Calibri" pitchFamily="34" charset="-120"/>
              </a:rPr>
              <a:t>   ·   Student ID 220304118   ·   2026-06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The privacy problem in blockchain</a:t>
            </a:r>
            <a:endParaRPr lang="en-US" sz="3600" dirty="0"/>
          </a:p>
        </p:txBody>
      </p:sp>
      <p:sp>
        <p:nvSpPr>
          <p:cNvPr id="3" name="Text 1"/>
          <p:cNvSpPr/>
          <p:nvPr/>
        </p:nvSpPr>
        <p:spPr>
          <a:xfrm>
            <a:off x="548640" y="1554480"/>
            <a:ext cx="11094415" cy="457200"/>
          </a:xfrm>
          <a:prstGeom prst="rect">
            <a:avLst/>
          </a:prstGeom>
          <a:noFill/>
          <a:ln/>
        </p:spPr>
        <p:txBody>
          <a:bodyPr wrap="square" lIns="0" tIns="0" rIns="0" bIns="0" rtlCol="0" anchor="ctr"/>
          <a:lstStyle/>
          <a:p>
            <a:pPr indent="0" marL="0">
              <a:buNone/>
            </a:pPr>
            <a:r>
              <a:rPr lang="en-US" sz="2200" dirty="0">
                <a:solidFill>
                  <a:srgbClr val="F0F0F0"/>
                </a:solidFill>
                <a:latin typeface="Calibri" pitchFamily="34" charset="0"/>
                <a:ea typeface="Calibri" pitchFamily="34" charset="-122"/>
                <a:cs typeface="Calibri" pitchFamily="34" charset="-120"/>
              </a:rPr>
              <a:t>Bitcoin transactions are fully public.</a:t>
            </a:r>
            <a:endParaRPr lang="en-US" sz="2200" dirty="0"/>
          </a:p>
        </p:txBody>
      </p:sp>
      <p:sp>
        <p:nvSpPr>
          <p:cNvPr id="4" name="Text 2"/>
          <p:cNvSpPr/>
          <p:nvPr/>
        </p:nvSpPr>
        <p:spPr>
          <a:xfrm>
            <a:off x="548640" y="2011680"/>
            <a:ext cx="11094415" cy="457200"/>
          </a:xfrm>
          <a:prstGeom prst="rect">
            <a:avLst/>
          </a:prstGeom>
          <a:noFill/>
          <a:ln/>
        </p:spPr>
        <p:txBody>
          <a:bodyPr wrap="square" lIns="0" tIns="0" rIns="0" bIns="0" rtlCol="0" anchor="ctr"/>
          <a:lstStyle/>
          <a:p>
            <a:pPr indent="0" marL="0">
              <a:buNone/>
            </a:pPr>
            <a:r>
              <a:rPr lang="en-US" sz="1800" i="1" dirty="0">
                <a:solidFill>
                  <a:srgbClr val="8A95A1"/>
                </a:solidFill>
                <a:latin typeface="Calibri" pitchFamily="34" charset="0"/>
                <a:ea typeface="Calibri" pitchFamily="34" charset="-122"/>
                <a:cs typeface="Calibri" pitchFamily="34" charset="-120"/>
              </a:rPr>
              <a:t>Anyone can see: from → to → amount.</a:t>
            </a:r>
            <a:endParaRPr lang="en-US" sz="1800" dirty="0"/>
          </a:p>
        </p:txBody>
      </p:sp>
      <p:sp>
        <p:nvSpPr>
          <p:cNvPr id="5" name="Text 3"/>
          <p:cNvSpPr/>
          <p:nvPr/>
        </p:nvSpPr>
        <p:spPr>
          <a:xfrm>
            <a:off x="548640" y="2926080"/>
            <a:ext cx="11094415" cy="365760"/>
          </a:xfrm>
          <a:prstGeom prst="rect">
            <a:avLst/>
          </a:prstGeom>
          <a:noFill/>
          <a:ln/>
        </p:spPr>
        <p:txBody>
          <a:bodyPr wrap="square" lIns="0" tIns="0" rIns="0" bIns="0" rtlCol="0" anchor="ctr"/>
          <a:lstStyle/>
          <a:p>
            <a:pPr indent="0" marL="0">
              <a:buNone/>
            </a:pPr>
            <a:r>
              <a:rPr lang="en-US" sz="1800" b="1" dirty="0">
                <a:solidFill>
                  <a:srgbClr val="7DD3FC"/>
                </a:solidFill>
                <a:latin typeface="Calibri" pitchFamily="34" charset="0"/>
                <a:ea typeface="Calibri" pitchFamily="34" charset="-122"/>
                <a:cs typeface="Calibri" pitchFamily="34" charset="-120"/>
              </a:rPr>
              <a:t>Three classes of privacy solutions:</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94415" cy="914400"/>
        </p:xfrm>
        <a:graphic>
          <a:graphicData uri="http://schemas.openxmlformats.org/drawingml/2006/table">
            <a:tbl>
              <a:tblPr/>
              <a:tblGrid>
                <a:gridCol w="6400800"/>
                <a:gridCol w="4690872"/>
              </a:tblGrid>
              <a:tr h="502920">
                <a:tc>
                  <a:txBody>
                    <a:bodyPr/>
                    <a:lstStyle/>
                    <a:p>
                      <a:pPr indent="0" marL="0">
                        <a:buNone/>
                      </a:pPr>
                      <a:r>
                        <a:rPr lang="en-US" sz="1800" dirty="0">
                          <a:solidFill>
                            <a:srgbClr val="F0F0F0"/>
                          </a:solidFill>
                          <a:latin typeface="Calibri" pitchFamily="34" charset="0"/>
                          <a:ea typeface="Calibri" pitchFamily="34" charset="-122"/>
                          <a:cs typeface="Calibri" pitchFamily="34" charset="-120"/>
                        </a:rPr>
                        <a:t>Ring signatures + stealth addresses</a:t>
                      </a:r>
                      <a:endParaRPr lang="en-US" sz="18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1600" dirty="0">
                          <a:solidFill>
                            <a:srgbClr val="8A95A1"/>
                          </a:solidFill>
                          <a:latin typeface="Menlo" pitchFamily="34" charset="0"/>
                          <a:ea typeface="Menlo" pitchFamily="34" charset="-122"/>
                          <a:cs typeface="Menlo" pitchFamily="34" charset="-120"/>
                        </a:rPr>
                        <a:t>Monero</a:t>
                      </a:r>
                      <a:endParaRPr lang="en-US" sz="16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r h="502920">
                <a:tc>
                  <a:txBody>
                    <a:bodyPr/>
                    <a:lstStyle/>
                    <a:p>
                      <a:pPr indent="0" marL="0">
                        <a:buNone/>
                      </a:pPr>
                      <a:r>
                        <a:rPr lang="en-US" sz="1800" dirty="0">
                          <a:solidFill>
                            <a:srgbClr val="F0F0F0"/>
                          </a:solidFill>
                          <a:latin typeface="Calibri" pitchFamily="34" charset="0"/>
                          <a:ea typeface="Calibri" pitchFamily="34" charset="-122"/>
                          <a:cs typeface="Calibri" pitchFamily="34" charset="-120"/>
                        </a:rPr>
                        <a:t>zk-SNARKs (hides everything, trusted setup)</a:t>
                      </a:r>
                      <a:endParaRPr lang="en-US" sz="18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1600" dirty="0">
                          <a:solidFill>
                            <a:srgbClr val="8A95A1"/>
                          </a:solidFill>
                          <a:latin typeface="Menlo" pitchFamily="34" charset="0"/>
                          <a:ea typeface="Menlo" pitchFamily="34" charset="-122"/>
                          <a:cs typeface="Menlo" pitchFamily="34" charset="-120"/>
                        </a:rPr>
                        <a:t>Zcash</a:t>
                      </a:r>
                      <a:endParaRPr lang="en-US" sz="16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r h="502920">
                <a:tc>
                  <a:txBody>
                    <a:bodyPr/>
                    <a:lstStyle/>
                    <a:p>
                      <a:pPr indent="0" marL="0">
                        <a:buNone/>
                      </a:pPr>
                      <a:r>
                        <a:rPr lang="en-US" sz="1800" b="1" dirty="0">
                          <a:solidFill>
                            <a:srgbClr val="7DD3FC"/>
                          </a:solidFill>
                          <a:latin typeface="Calibri" pitchFamily="34" charset="0"/>
                          <a:ea typeface="Calibri" pitchFamily="34" charset="-122"/>
                          <a:cs typeface="Calibri" pitchFamily="34" charset="-120"/>
                        </a:rPr>
                        <a:t>Pedersen commitments + cut-through</a:t>
                      </a:r>
                      <a:endParaRPr lang="en-US" sz="18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1600" b="1" dirty="0">
                          <a:solidFill>
                            <a:srgbClr val="7DD3FC"/>
                          </a:solidFill>
                          <a:latin typeface="Menlo" pitchFamily="34" charset="0"/>
                          <a:ea typeface="Menlo" pitchFamily="34" charset="-122"/>
                          <a:cs typeface="Menlo" pitchFamily="34" charset="-120"/>
                        </a:rPr>
                        <a:t>MimbleWimble  (this project)</a:t>
                      </a:r>
                      <a:endParaRPr lang="en-US" sz="16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MimbleWimble in one sentence</a:t>
            </a:r>
            <a:endParaRPr lang="en-US" sz="3600" dirty="0"/>
          </a:p>
        </p:txBody>
      </p:sp>
      <p:sp>
        <p:nvSpPr>
          <p:cNvPr id="3" name="Text 1"/>
          <p:cNvSpPr/>
          <p:nvPr/>
        </p:nvSpPr>
        <p:spPr>
          <a:xfrm>
            <a:off x="548640" y="1737360"/>
            <a:ext cx="11094415" cy="2011680"/>
          </a:xfrm>
          <a:prstGeom prst="rect">
            <a:avLst/>
          </a:prstGeom>
          <a:noFill/>
          <a:ln/>
        </p:spPr>
        <p:txBody>
          <a:bodyPr wrap="square" lIns="0" tIns="0" rIns="0" bIns="0" rtlCol="0" anchor="t"/>
          <a:lstStyle/>
          <a:p>
            <a:pPr indent="0" marL="0">
              <a:spcAft>
                <a:spcPts val="800"/>
              </a:spcAft>
              <a:buNone/>
            </a:pPr>
            <a:r>
              <a:rPr lang="en-US" sz="2200" dirty="0">
                <a:solidFill>
                  <a:srgbClr val="F0F0F0"/>
                </a:solidFill>
                <a:latin typeface="Calibri" pitchFamily="34" charset="0"/>
                <a:ea typeface="Calibri" pitchFamily="34" charset="-122"/>
                <a:cs typeface="Calibri" pitchFamily="34" charset="-120"/>
              </a:rPr>
              <a:t>A blockchain where transaction amounts are hidden, sender / receiver structure collapses, and old transaction data can be deleted (cut-through) — while every transaction remains mathematically verifiable.</a:t>
            </a:r>
            <a:endParaRPr lang="en-US" sz="2200" dirty="0"/>
          </a:p>
        </p:txBody>
      </p:sp>
      <p:sp>
        <p:nvSpPr>
          <p:cNvPr id="4" name="Text 2"/>
          <p:cNvSpPr/>
          <p:nvPr/>
        </p:nvSpPr>
        <p:spPr>
          <a:xfrm>
            <a:off x="548640" y="4023360"/>
            <a:ext cx="2743200" cy="365760"/>
          </a:xfrm>
          <a:prstGeom prst="rect">
            <a:avLst/>
          </a:prstGeom>
          <a:noFill/>
          <a:ln/>
        </p:spPr>
        <p:txBody>
          <a:bodyPr wrap="square" lIns="0" tIns="0" rIns="0" bIns="0" rtlCol="0" anchor="ctr"/>
          <a:lstStyle/>
          <a:p>
            <a:pPr indent="0" marL="0">
              <a:buNone/>
            </a:pPr>
            <a:r>
              <a:rPr lang="en-US" sz="1400" b="1" dirty="0">
                <a:solidFill>
                  <a:srgbClr val="7DD3FC"/>
                </a:solidFill>
                <a:latin typeface="Calibri" pitchFamily="34" charset="0"/>
                <a:ea typeface="Calibri" pitchFamily="34" charset="-122"/>
                <a:cs typeface="Calibri" pitchFamily="34" charset="-120"/>
              </a:rPr>
              <a:t>Origin</a:t>
            </a:r>
            <a:endParaRPr lang="en-US" sz="1400" dirty="0"/>
          </a:p>
        </p:txBody>
      </p:sp>
      <p:sp>
        <p:nvSpPr>
          <p:cNvPr id="5" name="Text 3"/>
          <p:cNvSpPr/>
          <p:nvPr/>
        </p:nvSpPr>
        <p:spPr>
          <a:xfrm>
            <a:off x="548640" y="4343400"/>
            <a:ext cx="5486400" cy="365760"/>
          </a:xfrm>
          <a:prstGeom prst="rect">
            <a:avLst/>
          </a:prstGeom>
          <a:noFill/>
          <a:ln/>
        </p:spPr>
        <p:txBody>
          <a:bodyPr wrap="square" lIns="0" tIns="0" rIns="0" bIns="0" rtlCol="0" anchor="ctr"/>
          <a:lstStyle/>
          <a:p>
            <a:pPr indent="0" marL="0">
              <a:buNone/>
            </a:pPr>
            <a:r>
              <a:rPr lang="en-US" sz="1400" dirty="0">
                <a:solidFill>
                  <a:srgbClr val="8A95A1"/>
                </a:solidFill>
                <a:latin typeface="Calibri" pitchFamily="34" charset="0"/>
                <a:ea typeface="Calibri" pitchFamily="34" charset="-122"/>
                <a:cs typeface="Calibri" pitchFamily="34" charset="-120"/>
              </a:rPr>
              <a:t>Posted anonymously 2016 by "Tom Elvis Jedusor"</a:t>
            </a:r>
            <a:endParaRPr lang="en-US" sz="1400" dirty="0"/>
          </a:p>
        </p:txBody>
      </p:sp>
      <p:sp>
        <p:nvSpPr>
          <p:cNvPr id="6" name="Text 4"/>
          <p:cNvSpPr/>
          <p:nvPr/>
        </p:nvSpPr>
        <p:spPr>
          <a:xfrm>
            <a:off x="548640" y="4937760"/>
            <a:ext cx="4114800" cy="365760"/>
          </a:xfrm>
          <a:prstGeom prst="rect">
            <a:avLst/>
          </a:prstGeom>
          <a:noFill/>
          <a:ln/>
        </p:spPr>
        <p:txBody>
          <a:bodyPr wrap="square" lIns="0" tIns="0" rIns="0" bIns="0" rtlCol="0" anchor="ctr"/>
          <a:lstStyle/>
          <a:p>
            <a:pPr indent="0" marL="0">
              <a:buNone/>
            </a:pPr>
            <a:r>
              <a:rPr lang="en-US" sz="1400" b="1" dirty="0">
                <a:solidFill>
                  <a:srgbClr val="7DD3FC"/>
                </a:solidFill>
                <a:latin typeface="Calibri" pitchFamily="34" charset="0"/>
                <a:ea typeface="Calibri" pitchFamily="34" charset="-122"/>
                <a:cs typeface="Calibri" pitchFamily="34" charset="-120"/>
              </a:rPr>
              <a:t>Production cryptocurrencies</a:t>
            </a:r>
            <a:endParaRPr lang="en-US" sz="1400" dirty="0"/>
          </a:p>
        </p:txBody>
      </p:sp>
      <p:sp>
        <p:nvSpPr>
          <p:cNvPr id="7" name="Text 5"/>
          <p:cNvSpPr/>
          <p:nvPr/>
        </p:nvSpPr>
        <p:spPr>
          <a:xfrm>
            <a:off x="548640" y="5257800"/>
            <a:ext cx="5486400" cy="365760"/>
          </a:xfrm>
          <a:prstGeom prst="rect">
            <a:avLst/>
          </a:prstGeom>
          <a:noFill/>
          <a:ln/>
        </p:spPr>
        <p:txBody>
          <a:bodyPr wrap="square" lIns="0" tIns="0" rIns="0" bIns="0" rtlCol="0" anchor="ctr"/>
          <a:lstStyle/>
          <a:p>
            <a:pPr indent="0" marL="0">
              <a:buNone/>
            </a:pPr>
            <a:r>
              <a:rPr lang="en-US" sz="1400" dirty="0">
                <a:solidFill>
                  <a:srgbClr val="8A95A1"/>
                </a:solidFill>
                <a:latin typeface="Menlo" pitchFamily="34" charset="0"/>
                <a:ea typeface="Menlo" pitchFamily="34" charset="-122"/>
                <a:cs typeface="Menlo" pitchFamily="34" charset="-120"/>
              </a:rPr>
              <a:t>Grin  ·  Beam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Three cryptographic primitives</a:t>
            </a:r>
            <a:endParaRPr lang="en-US" sz="3600" dirty="0"/>
          </a:p>
        </p:txBody>
      </p:sp>
      <p:sp>
        <p:nvSpPr>
          <p:cNvPr id="3" name="Shape 1"/>
          <p:cNvSpPr/>
          <p:nvPr/>
        </p:nvSpPr>
        <p:spPr>
          <a:xfrm>
            <a:off x="548640" y="1737360"/>
            <a:ext cx="3576218" cy="4206240"/>
          </a:xfrm>
          <a:prstGeom prst="rect">
            <a:avLst/>
          </a:prstGeom>
          <a:solidFill>
            <a:srgbClr val="1A2229"/>
          </a:solidFill>
          <a:ln w="12700">
            <a:solidFill>
              <a:srgbClr val="1A2229"/>
            </a:solidFill>
            <a:prstDash val="solid"/>
          </a:ln>
        </p:spPr>
      </p:sp>
      <p:sp>
        <p:nvSpPr>
          <p:cNvPr id="4" name="Text 2"/>
          <p:cNvSpPr/>
          <p:nvPr/>
        </p:nvSpPr>
        <p:spPr>
          <a:xfrm>
            <a:off x="777240" y="1920240"/>
            <a:ext cx="3119018" cy="45720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1. PEDERSEN COMMITMENT</a:t>
            </a:r>
            <a:endParaRPr lang="en-US" sz="1300" dirty="0"/>
          </a:p>
        </p:txBody>
      </p:sp>
      <p:sp>
        <p:nvSpPr>
          <p:cNvPr id="5" name="Text 3"/>
          <p:cNvSpPr/>
          <p:nvPr/>
        </p:nvSpPr>
        <p:spPr>
          <a:xfrm>
            <a:off x="777240" y="2514600"/>
            <a:ext cx="3119018" cy="1097280"/>
          </a:xfrm>
          <a:prstGeom prst="rect">
            <a:avLst/>
          </a:prstGeom>
          <a:noFill/>
          <a:ln/>
        </p:spPr>
        <p:txBody>
          <a:bodyPr wrap="square" lIns="0" tIns="0" rIns="0" bIns="0" rtlCol="0" anchor="t"/>
          <a:lstStyle/>
          <a:p>
            <a:pPr indent="0" marL="0">
              <a:buNone/>
            </a:pPr>
            <a:r>
              <a:rPr lang="en-US" sz="1600" dirty="0">
                <a:solidFill>
                  <a:srgbClr val="F0F0F0"/>
                </a:solidFill>
                <a:latin typeface="Menlo" pitchFamily="34" charset="0"/>
                <a:ea typeface="Menlo" pitchFamily="34" charset="-122"/>
                <a:cs typeface="Menlo" pitchFamily="34" charset="-120"/>
              </a:rPr>
              <a:t>C(v, r) = v·H + r·G</a:t>
            </a:r>
            <a:endParaRPr lang="en-US" sz="1600" dirty="0"/>
          </a:p>
        </p:txBody>
      </p:sp>
      <p:sp>
        <p:nvSpPr>
          <p:cNvPr id="6" name="Text 4"/>
          <p:cNvSpPr/>
          <p:nvPr/>
        </p:nvSpPr>
        <p:spPr>
          <a:xfrm>
            <a:off x="777240" y="3749040"/>
            <a:ext cx="3119018" cy="2011680"/>
          </a:xfrm>
          <a:prstGeom prst="rect">
            <a:avLst/>
          </a:prstGeom>
          <a:noFill/>
          <a:ln/>
        </p:spPr>
        <p:txBody>
          <a:bodyPr wrap="square" lIns="0" tIns="0" rIns="0" bIns="0" rtlCol="0" anchor="t"/>
          <a:lstStyle/>
          <a:p>
            <a:pPr indent="0" marL="0">
              <a:buNone/>
            </a:pPr>
            <a:r>
              <a:rPr lang="en-US" sz="1400" dirty="0">
                <a:solidFill>
                  <a:srgbClr val="8A95A1"/>
                </a:solidFill>
                <a:latin typeface="Calibri" pitchFamily="34" charset="0"/>
                <a:ea typeface="Calibri" pitchFamily="34" charset="-122"/>
                <a:cs typeface="Calibri" pitchFamily="34" charset="-120"/>
              </a:rPr>
              <a:t>Hides amount v.</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Additively homomorphic:</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C(v₁,r₁) + C(v₂,r₂)</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  = C(v₁+v₂, r₁+r₂)</a:t>
            </a:r>
            <a:endParaRPr lang="en-US" sz="1400" dirty="0"/>
          </a:p>
        </p:txBody>
      </p:sp>
      <p:sp>
        <p:nvSpPr>
          <p:cNvPr id="7" name="Shape 5"/>
          <p:cNvSpPr/>
          <p:nvPr/>
        </p:nvSpPr>
        <p:spPr>
          <a:xfrm>
            <a:off x="4307738" y="1737360"/>
            <a:ext cx="3576218" cy="4206240"/>
          </a:xfrm>
          <a:prstGeom prst="rect">
            <a:avLst/>
          </a:prstGeom>
          <a:solidFill>
            <a:srgbClr val="1A2229"/>
          </a:solidFill>
          <a:ln w="12700">
            <a:solidFill>
              <a:srgbClr val="1A2229"/>
            </a:solidFill>
            <a:prstDash val="solid"/>
          </a:ln>
        </p:spPr>
      </p:sp>
      <p:sp>
        <p:nvSpPr>
          <p:cNvPr id="8" name="Text 6"/>
          <p:cNvSpPr/>
          <p:nvPr/>
        </p:nvSpPr>
        <p:spPr>
          <a:xfrm>
            <a:off x="4536338" y="1920240"/>
            <a:ext cx="3119018" cy="45720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2. KERNEL EXCESS</a:t>
            </a:r>
            <a:endParaRPr lang="en-US" sz="1300" dirty="0"/>
          </a:p>
        </p:txBody>
      </p:sp>
      <p:sp>
        <p:nvSpPr>
          <p:cNvPr id="9" name="Text 7"/>
          <p:cNvSpPr/>
          <p:nvPr/>
        </p:nvSpPr>
        <p:spPr>
          <a:xfrm>
            <a:off x="4536338" y="2514600"/>
            <a:ext cx="3119018" cy="1097280"/>
          </a:xfrm>
          <a:prstGeom prst="rect">
            <a:avLst/>
          </a:prstGeom>
          <a:noFill/>
          <a:ln/>
        </p:spPr>
        <p:txBody>
          <a:bodyPr wrap="square" lIns="0" tIns="0" rIns="0" bIns="0" rtlCol="0" anchor="t"/>
          <a:lstStyle/>
          <a:p>
            <a:pPr indent="0" marL="0">
              <a:buNone/>
            </a:pPr>
            <a:r>
              <a:rPr lang="en-US" sz="1600" dirty="0">
                <a:solidFill>
                  <a:srgbClr val="F0F0F0"/>
                </a:solidFill>
                <a:latin typeface="Menlo" pitchFamily="34" charset="0"/>
                <a:ea typeface="Menlo" pitchFamily="34" charset="-122"/>
                <a:cs typeface="Menlo" pitchFamily="34" charset="-120"/>
              </a:rPr>
              <a:t>Σ C_in − Σ C_out − fee·H</a:t>
            </a:r>
            <a:endParaRPr lang="en-US" sz="1600" dirty="0"/>
          </a:p>
          <a:p>
            <a:pPr indent="0" marL="0">
              <a:buNone/>
            </a:pPr>
            <a:r>
              <a:rPr lang="en-US" sz="1600" dirty="0">
                <a:solidFill>
                  <a:srgbClr val="F0F0F0"/>
                </a:solidFill>
                <a:latin typeface="Menlo" pitchFamily="34" charset="0"/>
                <a:ea typeface="Menlo" pitchFamily="34" charset="-122"/>
                <a:cs typeface="Menlo" pitchFamily="34" charset="-120"/>
              </a:rPr>
              <a:t>  = excess·G</a:t>
            </a:r>
            <a:endParaRPr lang="en-US" sz="1600" dirty="0"/>
          </a:p>
        </p:txBody>
      </p:sp>
      <p:sp>
        <p:nvSpPr>
          <p:cNvPr id="10" name="Text 8"/>
          <p:cNvSpPr/>
          <p:nvPr/>
        </p:nvSpPr>
        <p:spPr>
          <a:xfrm>
            <a:off x="4536338" y="3749040"/>
            <a:ext cx="3119018" cy="2011680"/>
          </a:xfrm>
          <a:prstGeom prst="rect">
            <a:avLst/>
          </a:prstGeom>
          <a:noFill/>
          <a:ln/>
        </p:spPr>
        <p:txBody>
          <a:bodyPr wrap="square" lIns="0" tIns="0" rIns="0" bIns="0" rtlCol="0" anchor="t"/>
          <a:lstStyle/>
          <a:p>
            <a:pPr indent="0" marL="0">
              <a:buNone/>
            </a:pPr>
            <a:r>
              <a:rPr lang="en-US" sz="1400" dirty="0">
                <a:solidFill>
                  <a:srgbClr val="8A95A1"/>
                </a:solidFill>
                <a:latin typeface="Calibri" pitchFamily="34" charset="0"/>
                <a:ea typeface="Calibri" pitchFamily="34" charset="-122"/>
                <a:cs typeface="Calibri" pitchFamily="34" charset="-120"/>
              </a:rPr>
              <a:t>Schnorr-sign with `excess` →</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proves you own all input</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blinding factors → proves</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no value was created.</a:t>
            </a:r>
            <a:endParaRPr lang="en-US" sz="1400" dirty="0"/>
          </a:p>
        </p:txBody>
      </p:sp>
      <p:sp>
        <p:nvSpPr>
          <p:cNvPr id="11" name="Shape 9"/>
          <p:cNvSpPr/>
          <p:nvPr/>
        </p:nvSpPr>
        <p:spPr>
          <a:xfrm>
            <a:off x="8066837" y="1737360"/>
            <a:ext cx="3576218" cy="4206240"/>
          </a:xfrm>
          <a:prstGeom prst="rect">
            <a:avLst/>
          </a:prstGeom>
          <a:solidFill>
            <a:srgbClr val="1A2229"/>
          </a:solidFill>
          <a:ln w="12700">
            <a:solidFill>
              <a:srgbClr val="1A2229"/>
            </a:solidFill>
            <a:prstDash val="solid"/>
          </a:ln>
        </p:spPr>
      </p:sp>
      <p:sp>
        <p:nvSpPr>
          <p:cNvPr id="12" name="Text 10"/>
          <p:cNvSpPr/>
          <p:nvPr/>
        </p:nvSpPr>
        <p:spPr>
          <a:xfrm>
            <a:off x="8295437" y="1920240"/>
            <a:ext cx="3119018" cy="45720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3. RANGE PROOF</a:t>
            </a:r>
            <a:endParaRPr lang="en-US" sz="1300" dirty="0"/>
          </a:p>
        </p:txBody>
      </p:sp>
      <p:sp>
        <p:nvSpPr>
          <p:cNvPr id="13" name="Text 11"/>
          <p:cNvSpPr/>
          <p:nvPr/>
        </p:nvSpPr>
        <p:spPr>
          <a:xfrm>
            <a:off x="8295437" y="2514600"/>
            <a:ext cx="3119018" cy="1097280"/>
          </a:xfrm>
          <a:prstGeom prst="rect">
            <a:avLst/>
          </a:prstGeom>
          <a:noFill/>
          <a:ln/>
        </p:spPr>
        <p:txBody>
          <a:bodyPr wrap="square" lIns="0" tIns="0" rIns="0" bIns="0" rtlCol="0" anchor="t"/>
          <a:lstStyle/>
          <a:p>
            <a:pPr indent="0" marL="0">
              <a:buNone/>
            </a:pPr>
            <a:r>
              <a:rPr lang="en-US" sz="1600" dirty="0">
                <a:solidFill>
                  <a:srgbClr val="F0F0F0"/>
                </a:solidFill>
                <a:latin typeface="Menlo" pitchFamily="34" charset="0"/>
                <a:ea typeface="Menlo" pitchFamily="34" charset="-122"/>
                <a:cs typeface="Menlo" pitchFamily="34" charset="-120"/>
              </a:rPr>
              <a:t>Prove  v ∈ [0, 2⁶⁴)</a:t>
            </a:r>
            <a:endParaRPr lang="en-US" sz="1600" dirty="0"/>
          </a:p>
        </p:txBody>
      </p:sp>
      <p:sp>
        <p:nvSpPr>
          <p:cNvPr id="14" name="Text 12"/>
          <p:cNvSpPr/>
          <p:nvPr/>
        </p:nvSpPr>
        <p:spPr>
          <a:xfrm>
            <a:off x="8295437" y="3749040"/>
            <a:ext cx="3119018" cy="2011680"/>
          </a:xfrm>
          <a:prstGeom prst="rect">
            <a:avLst/>
          </a:prstGeom>
          <a:noFill/>
          <a:ln/>
        </p:spPr>
        <p:txBody>
          <a:bodyPr wrap="square" lIns="0" tIns="0" rIns="0" bIns="0" rtlCol="0" anchor="t"/>
          <a:lstStyle/>
          <a:p>
            <a:pPr indent="0" marL="0">
              <a:buNone/>
            </a:pPr>
            <a:r>
              <a:rPr lang="en-US" sz="1400" dirty="0">
                <a:solidFill>
                  <a:srgbClr val="8A95A1"/>
                </a:solidFill>
                <a:latin typeface="Calibri" pitchFamily="34" charset="0"/>
                <a:ea typeface="Calibri" pitchFamily="34" charset="-122"/>
                <a:cs typeface="Calibri" pitchFamily="34" charset="-120"/>
              </a:rPr>
              <a:t>Stops the negative-amount</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inflation attack.</a:t>
            </a:r>
            <a:endParaRPr lang="en-US" sz="1400" dirty="0"/>
          </a:p>
          <a:p>
            <a:pPr indent="0" marL="0">
              <a:buNone/>
            </a:pP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Bit-commitment OR-proofs</a:t>
            </a:r>
            <a:endParaRPr lang="en-US" sz="1400" dirty="0"/>
          </a:p>
          <a:p>
            <a:pPr indent="0" marL="0">
              <a:buNone/>
            </a:pPr>
            <a:r>
              <a:rPr lang="en-US" sz="1400" dirty="0">
                <a:solidFill>
                  <a:srgbClr val="8A95A1"/>
                </a:solidFill>
                <a:latin typeface="Calibri" pitchFamily="34" charset="0"/>
                <a:ea typeface="Calibri" pitchFamily="34" charset="-122"/>
                <a:cs typeface="Calibri" pitchFamily="34" charset="-120"/>
              </a:rPr>
              <a:t>(classical, pre-Bulletproofs).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Why each primitive exists</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0"/>
                <a:gridCol w="7891272"/>
              </a:tblGrid>
              <a:tr h="685800">
                <a:tc>
                  <a:txBody>
                    <a:bodyPr/>
                    <a:lstStyle/>
                    <a:p>
                      <a:pPr indent="0" marL="0">
                        <a:buNone/>
                      </a:pPr>
                      <a:r>
                        <a:rPr lang="en-US" sz="2000" b="1" dirty="0">
                          <a:solidFill>
                            <a:srgbClr val="7DD3FC"/>
                          </a:solidFill>
                          <a:latin typeface="Menlo" pitchFamily="34" charset="0"/>
                          <a:ea typeface="Menlo" pitchFamily="34" charset="-122"/>
                          <a:cs typeface="Menlo" pitchFamily="34" charset="-120"/>
                        </a:rPr>
                        <a:t>Pedersen</a:t>
                      </a:r>
                      <a:endParaRPr lang="en-US" sz="20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2000" dirty="0">
                          <a:solidFill>
                            <a:srgbClr val="F0F0F0"/>
                          </a:solidFill>
                          <a:latin typeface="Calibri" pitchFamily="34" charset="0"/>
                          <a:ea typeface="Calibri" pitchFamily="34" charset="-122"/>
                          <a:cs typeface="Calibri" pitchFamily="34" charset="-120"/>
                        </a:rPr>
                        <a:t>→  hides amounts</a:t>
                      </a:r>
                      <a:endParaRPr lang="en-US" sz="20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r h="685800">
                <a:tc>
                  <a:txBody>
                    <a:bodyPr/>
                    <a:lstStyle/>
                    <a:p>
                      <a:pPr indent="0" marL="0">
                        <a:buNone/>
                      </a:pPr>
                      <a:r>
                        <a:rPr lang="en-US" sz="2000" b="1" dirty="0">
                          <a:solidFill>
                            <a:srgbClr val="7DD3FC"/>
                          </a:solidFill>
                          <a:latin typeface="Menlo" pitchFamily="34" charset="0"/>
                          <a:ea typeface="Menlo" pitchFamily="34" charset="-122"/>
                          <a:cs typeface="Menlo" pitchFamily="34" charset="-120"/>
                        </a:rPr>
                        <a:t>Homomorphism</a:t>
                      </a:r>
                      <a:endParaRPr lang="en-US" sz="20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2000" dirty="0">
                          <a:solidFill>
                            <a:srgbClr val="F0F0F0"/>
                          </a:solidFill>
                          <a:latin typeface="Calibri" pitchFamily="34" charset="0"/>
                          <a:ea typeface="Calibri" pitchFamily="34" charset="-122"/>
                          <a:cs typeface="Calibri" pitchFamily="34" charset="-120"/>
                        </a:rPr>
                        <a:t>→  verify balance without seeing amounts</a:t>
                      </a:r>
                      <a:endParaRPr lang="en-US" sz="20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r h="685800">
                <a:tc>
                  <a:txBody>
                    <a:bodyPr/>
                    <a:lstStyle/>
                    <a:p>
                      <a:pPr indent="0" marL="0">
                        <a:buNone/>
                      </a:pPr>
                      <a:r>
                        <a:rPr lang="en-US" sz="2000" b="1" dirty="0">
                          <a:solidFill>
                            <a:srgbClr val="7DD3FC"/>
                          </a:solidFill>
                          <a:latin typeface="Menlo" pitchFamily="34" charset="0"/>
                          <a:ea typeface="Menlo" pitchFamily="34" charset="-122"/>
                          <a:cs typeface="Menlo" pitchFamily="34" charset="-120"/>
                        </a:rPr>
                        <a:t>Kernel signature</a:t>
                      </a:r>
                      <a:endParaRPr lang="en-US" sz="20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2000" dirty="0">
                          <a:solidFill>
                            <a:srgbClr val="F0F0F0"/>
                          </a:solidFill>
                          <a:latin typeface="Calibri" pitchFamily="34" charset="0"/>
                          <a:ea typeface="Calibri" pitchFamily="34" charset="-122"/>
                          <a:cs typeface="Calibri" pitchFamily="34" charset="-120"/>
                        </a:rPr>
                        <a:t>→  prove no inflation (the H components cancel)</a:t>
                      </a:r>
                      <a:endParaRPr lang="en-US" sz="20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r h="685800">
                <a:tc>
                  <a:txBody>
                    <a:bodyPr/>
                    <a:lstStyle/>
                    <a:p>
                      <a:pPr indent="0" marL="0">
                        <a:buNone/>
                      </a:pPr>
                      <a:r>
                        <a:rPr lang="en-US" sz="2000" b="1" dirty="0">
                          <a:solidFill>
                            <a:srgbClr val="7DD3FC"/>
                          </a:solidFill>
                          <a:latin typeface="Menlo" pitchFamily="34" charset="0"/>
                          <a:ea typeface="Menlo" pitchFamily="34" charset="-122"/>
                          <a:cs typeface="Menlo" pitchFamily="34" charset="-120"/>
                        </a:rPr>
                        <a:t>Range proof</a:t>
                      </a:r>
                      <a:endParaRPr lang="en-US" sz="2000" dirty="0">
                        <a:latin typeface="Menlo" charset="0"/>
                        <a:ea typeface="Menlo" charset="0"/>
                        <a:cs typeface="Menlo"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c>
                  <a:txBody>
                    <a:bodyPr/>
                    <a:lstStyle/>
                    <a:p>
                      <a:pPr indent="0" marL="0">
                        <a:buNone/>
                      </a:pPr>
                      <a:r>
                        <a:rPr lang="en-US" sz="2000" dirty="0">
                          <a:solidFill>
                            <a:srgbClr val="F0F0F0"/>
                          </a:solidFill>
                          <a:latin typeface="Calibri" pitchFamily="34" charset="0"/>
                          <a:ea typeface="Calibri" pitchFamily="34" charset="-122"/>
                          <a:cs typeface="Calibri" pitchFamily="34" charset="-120"/>
                        </a:rPr>
                        <a:t>→  stop "negative amount" attack</a:t>
                      </a:r>
                      <a:endParaRPr lang="en-US" sz="20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F1419"/>
                    </a:solidFill>
                  </a:tcPr>
                </a:tc>
              </a:tr>
            </a:tbl>
          </a:graphicData>
        </a:graphic>
      </p:graphicFrame>
      <p:sp>
        <p:nvSpPr>
          <p:cNvPr id="4" name="Text 1"/>
          <p:cNvSpPr/>
          <p:nvPr/>
        </p:nvSpPr>
        <p:spPr>
          <a:xfrm>
            <a:off x="548640" y="4937760"/>
            <a:ext cx="11094415" cy="914400"/>
          </a:xfrm>
          <a:prstGeom prst="rect">
            <a:avLst/>
          </a:prstGeom>
          <a:noFill/>
          <a:ln/>
        </p:spPr>
        <p:txBody>
          <a:bodyPr wrap="square" lIns="0" tIns="0" rIns="0" bIns="0" rtlCol="0" anchor="t"/>
          <a:lstStyle/>
          <a:p>
            <a:pPr indent="0" marL="0">
              <a:buNone/>
            </a:pPr>
            <a:r>
              <a:rPr lang="en-US" sz="1400" i="1" dirty="0">
                <a:solidFill>
                  <a:srgbClr val="8A95A1"/>
                </a:solidFill>
                <a:latin typeface="Calibri" pitchFamily="34" charset="0"/>
                <a:ea typeface="Calibri" pitchFamily="34" charset="-122"/>
                <a:cs typeface="Calibri" pitchFamily="34" charset="-120"/>
              </a:rPr>
              <a:t>In mod-ORDER arithmetic,  −5  is really  ORDER − 5  (a huge positive number).</a:t>
            </a:r>
            <a:endParaRPr lang="en-US" sz="1400" dirty="0"/>
          </a:p>
          <a:p>
            <a:pPr indent="0" marL="0">
              <a:buNone/>
            </a:pPr>
            <a:r>
              <a:rPr lang="en-US" sz="1400" i="1" dirty="0">
                <a:solidFill>
                  <a:srgbClr val="8A95A1"/>
                </a:solidFill>
                <a:latin typeface="Calibri" pitchFamily="34" charset="0"/>
                <a:ea typeface="Calibri" pitchFamily="34" charset="-122"/>
                <a:cs typeface="Calibri" pitchFamily="34" charset="-120"/>
              </a:rPr>
              <a:t>Without range proofs an attacker could "balance" with negatives and create money.</a:t>
            </a:r>
            <a:endParaRPr lang="en-US" sz="1400" dirty="0"/>
          </a:p>
        </p:txBody>
      </p:sp>
      <p:sp>
        <p:nvSpPr>
          <p:cNvPr id="5" name="Text 2"/>
          <p:cNvSpPr/>
          <p:nvPr/>
        </p:nvSpPr>
        <p:spPr>
          <a:xfrm>
            <a:off x="548640" y="5989320"/>
            <a:ext cx="11094415" cy="457200"/>
          </a:xfrm>
          <a:prstGeom prst="rect">
            <a:avLst/>
          </a:prstGeom>
          <a:noFill/>
          <a:ln/>
        </p:spPr>
        <p:txBody>
          <a:bodyPr wrap="square" lIns="0" tIns="0" rIns="0" bIns="0" rtlCol="0" anchor="ctr"/>
          <a:lstStyle/>
          <a:p>
            <a:pPr indent="0" marL="0">
              <a:buNone/>
            </a:pPr>
            <a:r>
              <a:rPr lang="en-US" sz="1800" b="1" dirty="0">
                <a:solidFill>
                  <a:srgbClr val="7DD3FC"/>
                </a:solidFill>
                <a:latin typeface="Calibri" pitchFamily="34" charset="0"/>
                <a:ea typeface="Calibri" pitchFamily="34" charset="-122"/>
                <a:cs typeface="Calibri" pitchFamily="34" charset="-120"/>
              </a:rPr>
              <a:t>All three together  =  a private but verifiable transaction.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My solution: on-chain verifier (Solidity) + Python prover</a:t>
            </a:r>
            <a:endParaRPr lang="en-US" sz="3600" dirty="0"/>
          </a:p>
        </p:txBody>
      </p:sp>
      <p:sp>
        <p:nvSpPr>
          <p:cNvPr id="3" name="Shape 1"/>
          <p:cNvSpPr/>
          <p:nvPr/>
        </p:nvSpPr>
        <p:spPr>
          <a:xfrm>
            <a:off x="2666848" y="1737360"/>
            <a:ext cx="6858000" cy="1828800"/>
          </a:xfrm>
          <a:prstGeom prst="rect">
            <a:avLst/>
          </a:prstGeom>
          <a:solidFill>
            <a:srgbClr val="1A2229"/>
          </a:solidFill>
          <a:ln w="12700">
            <a:solidFill>
              <a:srgbClr val="7DD3FC"/>
            </a:solidFill>
            <a:prstDash val="solid"/>
          </a:ln>
        </p:spPr>
      </p:sp>
      <p:sp>
        <p:nvSpPr>
          <p:cNvPr id="4" name="Text 2"/>
          <p:cNvSpPr/>
          <p:nvPr/>
        </p:nvSpPr>
        <p:spPr>
          <a:xfrm>
            <a:off x="2941168" y="1920240"/>
            <a:ext cx="6309360" cy="45720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Supporting  ·  PROVER  ·  Python  (builds tx + cross-checks vs Grin)</a:t>
            </a:r>
            <a:endParaRPr lang="en-US" sz="1600" dirty="0"/>
          </a:p>
        </p:txBody>
      </p:sp>
      <p:sp>
        <p:nvSpPr>
          <p:cNvPr id="5" name="Text 3"/>
          <p:cNvSpPr/>
          <p:nvPr/>
        </p:nvSpPr>
        <p:spPr>
          <a:xfrm>
            <a:off x="2941168" y="2377440"/>
            <a:ext cx="6309360" cy="1097280"/>
          </a:xfrm>
          <a:prstGeom prst="rect">
            <a:avLst/>
          </a:prstGeom>
          <a:noFill/>
          <a:ln/>
        </p:spPr>
        <p:txBody>
          <a:bodyPr wrap="square" lIns="0" tIns="0" rIns="0" bIns="0" rtlCol="0" anchor="t"/>
          <a:lstStyle/>
          <a:p>
            <a:pPr indent="0" marL="0">
              <a:buNone/>
            </a:pPr>
            <a:r>
              <a:rPr lang="en-US" sz="1300" dirty="0">
                <a:solidFill>
                  <a:srgbClr val="F0F0F0"/>
                </a:solidFill>
                <a:latin typeface="Calibri" pitchFamily="34" charset="0"/>
                <a:ea typeface="Calibri" pitchFamily="34" charset="-122"/>
                <a:cs typeface="Calibri" pitchFamily="34" charset="-120"/>
              </a:rPr>
              <a:t>ct/ package:</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builds Pedersen commitments</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builds 64-bit bit-commitment range proofs</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signs the kernel (Schnorr on secp256k1)</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21/21 tests pass</a:t>
            </a:r>
            <a:endParaRPr lang="en-US" sz="1300" dirty="0"/>
          </a:p>
        </p:txBody>
      </p:sp>
      <p:sp>
        <p:nvSpPr>
          <p:cNvPr id="6" name="Shape 4"/>
          <p:cNvSpPr/>
          <p:nvPr/>
        </p:nvSpPr>
        <p:spPr>
          <a:xfrm>
            <a:off x="5821528" y="3703320"/>
            <a:ext cx="548640" cy="411480"/>
          </a:xfrm>
          <a:prstGeom prst="downArrow">
            <a:avLst/>
          </a:prstGeom>
          <a:solidFill>
            <a:srgbClr val="7DD3FC"/>
          </a:solidFill>
          <a:ln w="12700">
            <a:solidFill>
              <a:srgbClr val="7DD3FC"/>
            </a:solidFill>
            <a:prstDash val="solid"/>
          </a:ln>
        </p:spPr>
      </p:sp>
      <p:sp>
        <p:nvSpPr>
          <p:cNvPr id="7" name="Text 5"/>
          <p:cNvSpPr/>
          <p:nvPr/>
        </p:nvSpPr>
        <p:spPr>
          <a:xfrm>
            <a:off x="6461608" y="3749040"/>
            <a:ext cx="3657600" cy="365760"/>
          </a:xfrm>
          <a:prstGeom prst="rect">
            <a:avLst/>
          </a:prstGeom>
          <a:noFill/>
          <a:ln/>
        </p:spPr>
        <p:txBody>
          <a:bodyPr wrap="square" lIns="0" tIns="0" rIns="0" bIns="0" rtlCol="0" anchor="ctr"/>
          <a:lstStyle/>
          <a:p>
            <a:pPr indent="0" marL="0">
              <a:buNone/>
            </a:pPr>
            <a:r>
              <a:rPr lang="en-US" sz="1200" i="1" dirty="0">
                <a:solidFill>
                  <a:srgbClr val="8A95A1"/>
                </a:solidFill>
                <a:latin typeface="Menlo" pitchFamily="34" charset="0"/>
                <a:ea typeface="Menlo" pitchFamily="34" charset="-122"/>
                <a:cs typeface="Menlo" pitchFamily="34" charset="-120"/>
              </a:rPr>
              <a:t>serialized transaction (JSON)</a:t>
            </a:r>
            <a:endParaRPr lang="en-US" sz="1200" dirty="0"/>
          </a:p>
        </p:txBody>
      </p:sp>
      <p:sp>
        <p:nvSpPr>
          <p:cNvPr id="8" name="Shape 6"/>
          <p:cNvSpPr/>
          <p:nvPr/>
        </p:nvSpPr>
        <p:spPr>
          <a:xfrm>
            <a:off x="2666848" y="4206240"/>
            <a:ext cx="6858000" cy="1828800"/>
          </a:xfrm>
          <a:prstGeom prst="rect">
            <a:avLst/>
          </a:prstGeom>
          <a:solidFill>
            <a:srgbClr val="1A2229"/>
          </a:solidFill>
          <a:ln w="12700">
            <a:solidFill>
              <a:srgbClr val="7DD3FC"/>
            </a:solidFill>
            <a:prstDash val="solid"/>
          </a:ln>
        </p:spPr>
      </p:sp>
      <p:sp>
        <p:nvSpPr>
          <p:cNvPr id="9" name="Text 7"/>
          <p:cNvSpPr/>
          <p:nvPr/>
        </p:nvSpPr>
        <p:spPr>
          <a:xfrm>
            <a:off x="2941168" y="4389120"/>
            <a:ext cx="6309360" cy="457200"/>
          </a:xfrm>
          <a:prstGeom prst="rect">
            <a:avLst/>
          </a:prstGeom>
          <a:noFill/>
          <a:ln/>
        </p:spPr>
        <p:txBody>
          <a:bodyPr wrap="square" lIns="0" tIns="0" rIns="0" bIns="0" rtlCol="0" anchor="ctr"/>
          <a:lstStyle/>
          <a:p>
            <a:pPr indent="0" marL="0">
              <a:buNone/>
            </a:pPr>
            <a:r>
              <a:rPr lang="en-US" sz="1600" b="1" dirty="0">
                <a:solidFill>
                  <a:srgbClr val="7DD3FC"/>
                </a:solidFill>
                <a:latin typeface="Calibri" pitchFamily="34" charset="0"/>
                <a:ea typeface="Calibri" pitchFamily="34" charset="-122"/>
                <a:cs typeface="Calibri" pitchFamily="34" charset="-120"/>
              </a:rPr>
              <a:t>MY SOLUTION  ·  on-chain VERIFIER  ·  Solidity</a:t>
            </a:r>
            <a:endParaRPr lang="en-US" sz="1600" dirty="0"/>
          </a:p>
        </p:txBody>
      </p:sp>
      <p:sp>
        <p:nvSpPr>
          <p:cNvPr id="10" name="Text 8"/>
          <p:cNvSpPr/>
          <p:nvPr/>
        </p:nvSpPr>
        <p:spPr>
          <a:xfrm>
            <a:off x="2941168" y="4846320"/>
            <a:ext cx="6309360" cy="1097280"/>
          </a:xfrm>
          <a:prstGeom prst="rect">
            <a:avLst/>
          </a:prstGeom>
          <a:noFill/>
          <a:ln/>
        </p:spPr>
        <p:txBody>
          <a:bodyPr wrap="square" lIns="0" tIns="0" rIns="0" bIns="0" rtlCol="0" anchor="t"/>
          <a:lstStyle/>
          <a:p>
            <a:pPr indent="0" marL="0">
              <a:buNone/>
            </a:pPr>
            <a:r>
              <a:rPr lang="en-US" sz="1300" dirty="0">
                <a:solidFill>
                  <a:srgbClr val="F0F0F0"/>
                </a:solidFill>
                <a:latin typeface="Calibri" pitchFamily="34" charset="0"/>
                <a:ea typeface="Calibri" pitchFamily="34" charset="-122"/>
                <a:cs typeface="Calibri" pitchFamily="34" charset="-120"/>
              </a:rPr>
              <a:t>MimbleWimbleVerifier.sol  (Hardhat):</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verifyKernelSignature(P, R, s, msg)</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verifyBalance(inputs, outputs, fee, kernelExcess)</a:t>
            </a:r>
            <a:endParaRPr lang="en-US" sz="1300" dirty="0"/>
          </a:p>
          <a:p>
            <a:pPr indent="0" marL="0">
              <a:buNone/>
            </a:pPr>
            <a:r>
              <a:rPr lang="en-US" sz="1300" dirty="0">
                <a:solidFill>
                  <a:srgbClr val="F0F0F0"/>
                </a:solidFill>
                <a:latin typeface="Calibri" pitchFamily="34" charset="0"/>
                <a:ea typeface="Calibri" pitchFamily="34" charset="-122"/>
                <a:cs typeface="Calibri" pitchFamily="34" charset="-120"/>
              </a:rPr>
              <a:t>• 10/10 Hardhat tests pass</a:t>
            </a:r>
            <a:endParaRPr lang="en-US" sz="1300" dirty="0"/>
          </a:p>
        </p:txBody>
      </p:sp>
      <p:sp>
        <p:nvSpPr>
          <p:cNvPr id="11" name="Text 9"/>
          <p:cNvSpPr/>
          <p:nvPr/>
        </p:nvSpPr>
        <p:spPr>
          <a:xfrm>
            <a:off x="548640" y="6263640"/>
            <a:ext cx="11094415" cy="457200"/>
          </a:xfrm>
          <a:prstGeom prst="rect">
            <a:avLst/>
          </a:prstGeom>
          <a:noFill/>
          <a:ln/>
        </p:spPr>
        <p:txBody>
          <a:bodyPr wrap="square" lIns="0" tIns="0" rIns="0" bIns="0" rtlCol="0" anchor="ctr"/>
          <a:lstStyle/>
          <a:p>
            <a:pPr indent="0" marL="0">
              <a:buNone/>
            </a:pPr>
            <a:r>
              <a:rPr lang="en-US" sz="1200" i="1" dirty="0">
                <a:solidFill>
                  <a:srgbClr val="8A95A1"/>
                </a:solidFill>
                <a:latin typeface="Calibri" pitchFamily="34" charset="0"/>
                <a:ea typeface="Calibri" pitchFamily="34" charset="-122"/>
                <a:cs typeface="Calibri" pitchFamily="34" charset="-120"/>
              </a:rPr>
              <a:t>Range proofs stay off-chain — verifying them on EVM under the classical construction would cost tens of millions of gas (no secp256k1 precompile on Ethereum).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Live demo</a:t>
            </a:r>
            <a:endParaRPr lang="en-US" sz="3600" dirty="0"/>
          </a:p>
        </p:txBody>
      </p:sp>
      <p:sp>
        <p:nvSpPr>
          <p:cNvPr id="3" name="Text 1"/>
          <p:cNvSpPr/>
          <p:nvPr/>
        </p:nvSpPr>
        <p:spPr>
          <a:xfrm>
            <a:off x="548640" y="1234440"/>
            <a:ext cx="11094415" cy="457200"/>
          </a:xfrm>
          <a:prstGeom prst="rect">
            <a:avLst/>
          </a:prstGeom>
          <a:noFill/>
          <a:ln/>
        </p:spPr>
        <p:txBody>
          <a:bodyPr wrap="square" lIns="0" tIns="0" rIns="0" bIns="0" rtlCol="0" anchor="ctr"/>
          <a:lstStyle/>
          <a:p>
            <a:pPr indent="0" marL="0">
              <a:buNone/>
            </a:pPr>
            <a:r>
              <a:rPr lang="en-US" sz="1800" i="1" dirty="0">
                <a:solidFill>
                  <a:srgbClr val="7DD3FC"/>
                </a:solidFill>
                <a:latin typeface="Calibri" pitchFamily="34" charset="0"/>
                <a:ea typeface="Calibri" pitchFamily="34" charset="-122"/>
                <a:cs typeface="Calibri" pitchFamily="34" charset="-120"/>
              </a:rPr>
              <a:t>Terminal — Part A comparison first, then verify + on-chain</a:t>
            </a:r>
            <a:endParaRPr lang="en-US" sz="1800" dirty="0"/>
          </a:p>
        </p:txBody>
      </p:sp>
      <p:sp>
        <p:nvSpPr>
          <p:cNvPr id="4" name="Shape 2"/>
          <p:cNvSpPr/>
          <p:nvPr/>
        </p:nvSpPr>
        <p:spPr>
          <a:xfrm>
            <a:off x="548640" y="1828800"/>
            <a:ext cx="11094415" cy="4572000"/>
          </a:xfrm>
          <a:prstGeom prst="rect">
            <a:avLst/>
          </a:prstGeom>
          <a:solidFill>
            <a:srgbClr val="1A2229"/>
          </a:solidFill>
          <a:ln w="12700">
            <a:solidFill>
              <a:srgbClr val="1A2229"/>
            </a:solidFill>
            <a:prstDash val="solid"/>
          </a:ln>
        </p:spPr>
      </p:sp>
      <p:sp>
        <p:nvSpPr>
          <p:cNvPr id="5" name="Text 3"/>
          <p:cNvSpPr/>
          <p:nvPr/>
        </p:nvSpPr>
        <p:spPr>
          <a:xfrm>
            <a:off x="731520" y="1965960"/>
            <a:ext cx="10728655" cy="4297680"/>
          </a:xfrm>
          <a:prstGeom prst="rect">
            <a:avLst/>
          </a:prstGeom>
          <a:noFill/>
          <a:ln/>
        </p:spPr>
        <p:txBody>
          <a:bodyPr wrap="square" lIns="0" tIns="0" rIns="0" bIns="0" rtlCol="0" anchor="t"/>
          <a:lstStyle/>
          <a:p>
            <a:pPr indent="0" marL="0">
              <a:buNone/>
            </a:pPr>
            <a:r>
              <a:rPr lang="en-US" sz="1400" dirty="0">
                <a:solidFill>
                  <a:srgbClr val="D6DEE6"/>
                </a:solidFill>
                <a:latin typeface="Menlo" pitchFamily="34" charset="0"/>
                <a:ea typeface="Menlo" pitchFamily="34" charset="-122"/>
                <a:cs typeface="Menlo" pitchFamily="34" charset="-120"/>
              </a:rPr>
              <a:t>$ python scripts/compare_with_reference.py      # PART A = 50 pts</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Scenario               Expected  Original  Reference  Agree?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01_simple … 05_unbalanced_invalid   (all 5 scenarios)</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Result: ALL SCENARIOS AGREE    ·    his inputs:  --scenarios inputs.json</a:t>
            </a:r>
            <a:endParaRPr lang="en-US" sz="1400" dirty="0"/>
          </a:p>
          <a:p>
            <a:pPr indent="0" marL="0">
              <a:buNone/>
            </a:pP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python -m ct.cli verify examples/01_simple.json</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[OK] all 1 range proofs valid</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[OK] commitments balance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[OK] kernel signature valid</a:t>
            </a:r>
            <a:endParaRPr lang="en-US" sz="1400" dirty="0"/>
          </a:p>
          <a:p>
            <a:pPr indent="0" marL="0">
              <a:buNone/>
            </a:pP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cd solidity &amp;&amp; npx hardhat test</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MimbleWimbleVerifier</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verifyKernelSignature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 accepts valid Schnorr signature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 rejects tampered signature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verifyBalance</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 accepts balanced transaction</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 rejects unbalanced transaction</a:t>
            </a:r>
            <a:endParaRPr lang="en-US" sz="1400" dirty="0"/>
          </a:p>
          <a:p>
            <a:pPr indent="0" marL="0">
              <a:buNone/>
            </a:pPr>
            <a:r>
              <a:rPr lang="en-US" sz="1400" dirty="0">
                <a:solidFill>
                  <a:srgbClr val="D6DEE6"/>
                </a:solidFill>
                <a:latin typeface="Menlo" pitchFamily="34" charset="0"/>
                <a:ea typeface="Menlo" pitchFamily="34" charset="-122"/>
                <a:cs typeface="Menlo" pitchFamily="34" charset="-120"/>
              </a:rPr>
              <a:t>  10 passing  (510ms)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548640" y="457200"/>
            <a:ext cx="11094415" cy="822960"/>
          </a:xfrm>
          <a:prstGeom prst="rect">
            <a:avLst/>
          </a:prstGeom>
          <a:noFill/>
          <a:ln/>
        </p:spPr>
        <p:txBody>
          <a:bodyPr wrap="square" lIns="0" tIns="0" rIns="0" bIns="0" rtlCol="0" anchor="ctr"/>
          <a:lstStyle/>
          <a:p>
            <a:pPr indent="0" marL="0">
              <a:buNone/>
            </a:pPr>
            <a:r>
              <a:rPr lang="en-US" sz="3600" b="1" dirty="0">
                <a:solidFill>
                  <a:srgbClr val="F0F0F0"/>
                </a:solidFill>
                <a:latin typeface="Calibri" pitchFamily="34" charset="0"/>
                <a:ea typeface="Calibri" pitchFamily="34" charset="-122"/>
                <a:cs typeface="Calibri" pitchFamily="34" charset="-120"/>
              </a:rPr>
              <a:t>Limitations &amp; future work</a:t>
            </a:r>
            <a:endParaRPr lang="en-US" sz="3600" dirty="0"/>
          </a:p>
        </p:txBody>
      </p:sp>
      <p:sp>
        <p:nvSpPr>
          <p:cNvPr id="3" name="Shape 1"/>
          <p:cNvSpPr/>
          <p:nvPr/>
        </p:nvSpPr>
        <p:spPr>
          <a:xfrm>
            <a:off x="548640" y="1737360"/>
            <a:ext cx="5364328" cy="3657600"/>
          </a:xfrm>
          <a:prstGeom prst="rect">
            <a:avLst/>
          </a:prstGeom>
          <a:solidFill>
            <a:srgbClr val="1A2229"/>
          </a:solidFill>
          <a:ln w="12700">
            <a:solidFill>
              <a:srgbClr val="1A2229"/>
            </a:solidFill>
            <a:prstDash val="solid"/>
          </a:ln>
        </p:spPr>
      </p:sp>
      <p:sp>
        <p:nvSpPr>
          <p:cNvPr id="4" name="Text 2"/>
          <p:cNvSpPr/>
          <p:nvPr/>
        </p:nvSpPr>
        <p:spPr>
          <a:xfrm>
            <a:off x="777240" y="1920240"/>
            <a:ext cx="4907128" cy="45720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PROTOCOL SCOPE</a:t>
            </a:r>
            <a:endParaRPr lang="en-US" sz="1300" dirty="0"/>
          </a:p>
        </p:txBody>
      </p:sp>
      <p:sp>
        <p:nvSpPr>
          <p:cNvPr id="5" name="Text 3"/>
          <p:cNvSpPr/>
          <p:nvPr/>
        </p:nvSpPr>
        <p:spPr>
          <a:xfrm>
            <a:off x="777240" y="2514600"/>
            <a:ext cx="4907128" cy="2743200"/>
          </a:xfrm>
          <a:prstGeom prst="rect">
            <a:avLst/>
          </a:prstGeom>
          <a:noFill/>
          <a:ln/>
        </p:spPr>
        <p:txBody>
          <a:bodyPr wrap="square" lIns="0" tIns="0" rIns="0" bIns="0" rtlCol="0" anchor="t"/>
          <a:lstStyle/>
          <a:p>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Cut-through</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MW's signature aggregation feature
</a:t>
            </a:r>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Aggregate kernels</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multi-tx kernels via Schnorr linearity
</a:t>
            </a:r>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Bulletproofs</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would shrink range proofs ~10×
</a:t>
            </a:r>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Network / P2P layer</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this project is the cryptographic core</a:t>
            </a:r>
            <a:endParaRPr lang="en-US" sz="1400" dirty="0"/>
          </a:p>
        </p:txBody>
      </p:sp>
      <p:sp>
        <p:nvSpPr>
          <p:cNvPr id="6" name="Shape 4"/>
          <p:cNvSpPr/>
          <p:nvPr/>
        </p:nvSpPr>
        <p:spPr>
          <a:xfrm>
            <a:off x="6278728" y="1737360"/>
            <a:ext cx="5364328" cy="3657600"/>
          </a:xfrm>
          <a:prstGeom prst="rect">
            <a:avLst/>
          </a:prstGeom>
          <a:solidFill>
            <a:srgbClr val="1A2229"/>
          </a:solidFill>
          <a:ln w="12700">
            <a:solidFill>
              <a:srgbClr val="1A2229"/>
            </a:solidFill>
            <a:prstDash val="solid"/>
          </a:ln>
        </p:spPr>
      </p:sp>
      <p:sp>
        <p:nvSpPr>
          <p:cNvPr id="7" name="Text 5"/>
          <p:cNvSpPr/>
          <p:nvPr/>
        </p:nvSpPr>
        <p:spPr>
          <a:xfrm>
            <a:off x="6507328" y="1920240"/>
            <a:ext cx="4907128" cy="45720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GAS OPTIMIZATIONS NOT APPLIED</a:t>
            </a:r>
            <a:endParaRPr lang="en-US" sz="1300" dirty="0"/>
          </a:p>
        </p:txBody>
      </p:sp>
      <p:sp>
        <p:nvSpPr>
          <p:cNvPr id="8" name="Text 6"/>
          <p:cNvSpPr/>
          <p:nvPr/>
        </p:nvSpPr>
        <p:spPr>
          <a:xfrm>
            <a:off x="6507328" y="2514600"/>
            <a:ext cx="4907128" cy="2743200"/>
          </a:xfrm>
          <a:prstGeom prst="rect">
            <a:avLst/>
          </a:prstGeom>
          <a:noFill/>
          <a:ln/>
        </p:spPr>
        <p:txBody>
          <a:bodyPr wrap="square" lIns="0" tIns="0" rIns="0" bIns="0" rtlCol="0" anchor="t"/>
          <a:lstStyle/>
          <a:p>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Pure-Solidity secp256k1 EC ops</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no native precompile → millions of gas per Schnorr verify
</a:t>
            </a:r>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Affine coordinates, no Jacobian</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chosen for clarity over speed (defensible)
</a:t>
            </a:r>
            <a:pPr indent="0" marL="0">
              <a:spcAft>
                <a:spcPts val="400"/>
              </a:spcAft>
              <a:buNone/>
            </a:pPr>
            <a:r>
              <a:rPr lang="en-US" sz="1400" b="1" dirty="0">
                <a:solidFill>
                  <a:srgbClr val="F0F0F0"/>
                </a:solidFill>
                <a:latin typeface="Calibri" pitchFamily="34" charset="0"/>
                <a:ea typeface="Calibri" pitchFamily="34" charset="-122"/>
                <a:cs typeface="Calibri" pitchFamily="34" charset="-120"/>
              </a:rPr>
              <a:t>No batched verification</a:t>
            </a:r>
            <a:endParaRPr lang="en-US" sz="1400" dirty="0"/>
          </a:p>
          <a:p>
            <a:pPr indent="0" marL="0">
              <a:spcAft>
                <a:spcPts val="400"/>
              </a:spcAft>
              <a:buNone/>
            </a:pPr>
            <a:r>
              <a:rPr lang="en-US" sz="1400" dirty="0">
                <a:solidFill>
                  <a:srgbClr val="8A95A1"/>
                </a:solidFill>
                <a:latin typeface="Calibri" pitchFamily="34" charset="0"/>
                <a:ea typeface="Calibri" pitchFamily="34" charset="-122"/>
                <a:cs typeface="Calibri" pitchFamily="34" charset="-120"/>
              </a:rPr>
              <a:t>  one verify per call; batching would amortize EC ops</a:t>
            </a:r>
            <a:endParaRPr lang="en-US" sz="1400" dirty="0"/>
          </a:p>
        </p:txBody>
      </p:sp>
      <p:sp>
        <p:nvSpPr>
          <p:cNvPr id="9" name="Text 7"/>
          <p:cNvSpPr/>
          <p:nvPr/>
        </p:nvSpPr>
        <p:spPr>
          <a:xfrm>
            <a:off x="548640" y="5577840"/>
            <a:ext cx="11094415" cy="365760"/>
          </a:xfrm>
          <a:prstGeom prst="rect">
            <a:avLst/>
          </a:prstGeom>
          <a:noFill/>
          <a:ln/>
        </p:spPr>
        <p:txBody>
          <a:bodyPr wrap="square" lIns="0" tIns="0" rIns="0" bIns="0" rtlCol="0" anchor="ctr"/>
          <a:lstStyle/>
          <a:p>
            <a:pPr indent="0" marL="0">
              <a:buNone/>
            </a:pPr>
            <a:r>
              <a:rPr lang="en-US" sz="1300" b="1" spc="100" kern="0" dirty="0">
                <a:solidFill>
                  <a:srgbClr val="7DD3FC"/>
                </a:solidFill>
                <a:latin typeface="Calibri" pitchFamily="34" charset="0"/>
                <a:ea typeface="Calibri" pitchFamily="34" charset="-122"/>
                <a:cs typeface="Calibri" pitchFamily="34" charset="-120"/>
              </a:rPr>
              <a:t>References</a:t>
            </a:r>
            <a:endParaRPr lang="en-US" sz="1300" dirty="0"/>
          </a:p>
        </p:txBody>
      </p:sp>
      <p:sp>
        <p:nvSpPr>
          <p:cNvPr id="10" name="Text 8"/>
          <p:cNvSpPr/>
          <p:nvPr/>
        </p:nvSpPr>
        <p:spPr>
          <a:xfrm>
            <a:off x="548640" y="5943600"/>
            <a:ext cx="11094415" cy="457200"/>
          </a:xfrm>
          <a:prstGeom prst="rect">
            <a:avLst/>
          </a:prstGeom>
          <a:noFill/>
          <a:ln/>
        </p:spPr>
        <p:txBody>
          <a:bodyPr wrap="square" lIns="0" tIns="0" rIns="0" bIns="0" rtlCol="0" anchor="ctr"/>
          <a:lstStyle/>
          <a:p>
            <a:pPr indent="0" marL="0">
              <a:buNone/>
            </a:pPr>
            <a:r>
              <a:rPr lang="en-US" sz="1200" dirty="0">
                <a:solidFill>
                  <a:srgbClr val="8A95A1"/>
                </a:solidFill>
                <a:latin typeface="Menlo" pitchFamily="34" charset="0"/>
                <a:ea typeface="Menlo" pitchFamily="34" charset="-122"/>
                <a:cs typeface="Menlo" pitchFamily="34" charset="-120"/>
              </a:rPr>
              <a:t>Jedusor (2016)  ·  Poelstra (2016) writeup  ·  Bernabe et al. (2019) IEEE survey  ·  grinventions/mimblewimble-py reference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MimbleWimble Confidential Transactions</dc:title>
  <dc:subject>PptxGenJS Presentation</dc:subject>
  <dc:creator>Ege Deniz</dc:creator>
  <cp:lastModifiedBy>Ege Deniz</cp:lastModifiedBy>
  <cp:revision>1</cp:revision>
  <dcterms:created xsi:type="dcterms:W3CDTF">2026-05-28T09:04:20Z</dcterms:created>
  <dcterms:modified xsi:type="dcterms:W3CDTF">2026-05-28T09:04:20Z</dcterms:modified>
</cp:coreProperties>
</file>