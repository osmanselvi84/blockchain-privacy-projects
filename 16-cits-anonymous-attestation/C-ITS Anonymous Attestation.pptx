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Poppins" panose="00000500000000000000"/>
      <p:regular r:id="rId24"/>
      <p:bold r:id="rId25"/>
      <p:italic r:id="rId26"/>
      <p:boldItalic r:id="rId27"/>
    </p:embeddedFont>
    <p:embeddedFont>
      <p:font typeface="Inter" panose="02000503000000020004"/>
      <p:regular r:id="rId28"/>
      <p:bold r:id="rId29"/>
      <p:italic r:id="rId30"/>
      <p:boldItalic r:id="rId31"/>
    </p:embeddedFont>
    <p:embeddedFont>
      <p:font typeface="Inter Medium" panose="02000503000000020004"/>
      <p:regular r:id="rId32"/>
      <p:bold r:id="rId33"/>
      <p:italic r:id="rId34"/>
      <p:boldItalic r:id="rId35"/>
    </p:embeddedFont>
    <p:embeddedFont>
      <p:font typeface="Poppins SemiBold" panose="00000700000000000000"/>
      <p:bold r:id="rId36"/>
      <p:boldItalic r:id="rId37"/>
    </p:embeddedFont>
    <p:embeddedFont>
      <p:font typeface="Inter SemiBold" panose="02000503000000020004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2A9417B-0BBB-482D-A99E-057E042D43D0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20.fntdata"/><Relationship Id="rId38" Type="http://schemas.openxmlformats.org/officeDocument/2006/relationships/font" Target="fonts/font19.fntdata"/><Relationship Id="rId37" Type="http://schemas.openxmlformats.org/officeDocument/2006/relationships/font" Target="fonts/font18.fntdata"/><Relationship Id="rId36" Type="http://schemas.openxmlformats.org/officeDocument/2006/relationships/font" Target="fonts/font17.fntdata"/><Relationship Id="rId35" Type="http://schemas.openxmlformats.org/officeDocument/2006/relationships/font" Target="fonts/font16.fntdata"/><Relationship Id="rId34" Type="http://schemas.openxmlformats.org/officeDocument/2006/relationships/font" Target="fonts/font15.fntdata"/><Relationship Id="rId33" Type="http://schemas.openxmlformats.org/officeDocument/2006/relationships/font" Target="fonts/font14.fntdata"/><Relationship Id="rId32" Type="http://schemas.openxmlformats.org/officeDocument/2006/relationships/font" Target="fonts/font13.fntdata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9" name="Google Shape;229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8" name="Google Shape;238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8" name="Google Shape;258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2" name="Google Shape;282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0" name="Google Shape;290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915715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C-ITS Anonymous Attestation on Blockchain</a:t>
            </a:r>
            <a:endParaRPr lang="en-US" sz="48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447157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privacy-preserving architecture for Cooperative Intelligent Transport Systems using Ethereum Smart Contracts.</a:t>
            </a:r>
            <a:endParaRPr lang="en-US" sz="1800" b="0" i="0" u="none" strike="noStrike" cap="none">
              <a:solidFill>
                <a:srgbClr val="47556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464248"/>
            <a:ext cx="8572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284C7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Feridun Tavşanlı (Student ID: 210304006)</a:t>
            </a:r>
            <a:endParaRPr lang="en-US" sz="1650" b="0" i="0" u="none" strike="noStrike" cap="none">
              <a:solidFill>
                <a:srgbClr val="0284C7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73355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73355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primary goal is to implement a blockchain-based anonymous attestation mechanism for C-ITS environments, modeling a simplified PKI-based trust architecture.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04850" y="30956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0956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Anonymous Identity: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Vehicles use pseudonyms instead of real identities to preserve privacy.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04850" y="3848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38481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Authority Validation: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Certificate-based authority validation ensures only registered RSUs operate.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04850" y="4600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6005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Trust-based Messages: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Secure V2X message attestation on-chain.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04850" y="53530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53530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Security Controls: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Built-in revocation and expiry-based control systems.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73355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Project Goal &amp; Objectives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752600"/>
            <a:ext cx="52863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752600"/>
            <a:ext cx="528637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62025" y="21431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Certification Authority (CA)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268605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core administrative smart contract responsible for managing network trust and institutional actors.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724650" y="21431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Anonymous Attestation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724650" y="268605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operational contract interacting directly with vehicle nodes to ensure secure, anonymous communication.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095375" y="3743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200150" y="37433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Registering Road Side Unit (RSU) and authority nodes.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095375" y="44958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200150" y="44958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Issuing verifiable digital certificates.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095375" y="4943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200150" y="49434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Validating authority permissions strictly on-chain.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858000" y="37433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962775" y="37433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Vehicle pseudonym management and uniqueness verification.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858000" y="44958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962775" y="44958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Attestation creation for V2X broadcasts.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858000" y="4943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962775" y="49434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Trust record storage, verification logic, and revocation checks.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System Architecture Contracts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71500" y="418623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07968" y="453866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1. Registration</a:t>
            </a:r>
            <a:endParaRPr lang="en-US" sz="180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4967287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Admin securely registers RSU authorities in the central system.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3343888" y="238601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2. Issuance</a:t>
            </a:r>
            <a:endParaRPr lang="en-US" sz="180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3407419" y="2814637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Authorities issue valid blockchain certificates for V2X authentication.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179808" y="453866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3. Attestation</a:t>
            </a:r>
            <a:endParaRPr lang="en-US" sz="180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243339" y="4967287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Vehicles anonymously submit V2X messages utilizing their pseudonyms.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9015728" y="2081212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4. Verification</a:t>
            </a:r>
            <a:endParaRPr lang="en-US" sz="180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9079259" y="2509837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Any network user can verify message authenticity, validity, and expiry.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727820" y="40909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563740" y="40909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7399659" y="40909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0235579" y="40909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Operational Workflow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24062"/>
            <a:ext cx="34290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81500" y="2024062"/>
            <a:ext cx="34290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91500" y="2024062"/>
            <a:ext cx="34290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425892" y="3214687"/>
            <a:ext cx="172021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Pseudonym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37576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Vehicles utilize a unique `pseudonymVehicleId` rather than a static MAC or VIN, ensuring complete route anonymity.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015865" y="3214687"/>
            <a:ext cx="216027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Authentication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4676775" y="3757612"/>
            <a:ext cx="28384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Messages include a `certificateId` and a cryptographic `signature` to prove institutional backing without revealing identity.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8940879" y="3214687"/>
            <a:ext cx="193024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Payload Data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8486775" y="3757612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Contains the actual `messageType` (e.g., CAM), `messageData` (e.g., speed), and strict timestamp bounds.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62" name="Google Shape;162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2085975" y="24622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838825" y="24622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705975" y="24622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V2X Message Composition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09687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334125" y="24384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Solidity &amp; Web3 Infrastructure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6334125" y="29813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entire anonymous attestation prototype is built and verified utilizing standard Ethereum development tools.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334125" y="3733800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deploy standard Smart Contracts utilizing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Solidity version ^0.5.16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. The testing sequence is executed within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Remix IDE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environment, leveraging the built-in JavaScript VM and Injected Web3 for transactional simulation.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47787" y="2052637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Testing Environment Setup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571500" y="1551682"/>
            <a:ext cx="11049000" cy="47357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183" name="Google Shape;183;p19"/>
          <p:cNvGraphicFramePr/>
          <p:nvPr/>
        </p:nvGraphicFramePr>
        <p:xfrm>
          <a:off x="571500" y="1551682"/>
          <a:ext cx="11049000" cy="4735750"/>
        </p:xfrm>
        <a:graphic>
          <a:graphicData uri="http://schemas.openxmlformats.org/drawingml/2006/table">
            <a:tbl>
              <a:tblPr firstRow="1" bandRow="1">
                <a:noFill/>
                <a:tableStyleId>{02A9417B-0BBB-482D-A99E-057E042D43D0}</a:tableStyleId>
              </a:tblPr>
              <a:tblGrid>
                <a:gridCol w="2230350"/>
                <a:gridCol w="3409950"/>
                <a:gridCol w="4236975"/>
                <a:gridCol w="1171725"/>
              </a:tblGrid>
              <a:tr h="9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Test Scenario</a:t>
                      </a:r>
                      <a:endParaRPr lang="en-US" sz="1650" b="1" i="0" u="none" strike="noStrike" cap="none">
                        <a:solidFill>
                          <a:srgbClr val="0F172A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Function Executed</a:t>
                      </a:r>
                      <a:endParaRPr lang="en-US" sz="1650" b="1" i="0" u="none" strike="noStrike" cap="none">
                        <a:solidFill>
                          <a:srgbClr val="0F172A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Expected Result</a:t>
                      </a:r>
                      <a:endParaRPr lang="en-US" sz="1650" b="1" i="0" u="none" strike="noStrike" cap="none">
                        <a:solidFill>
                          <a:srgbClr val="0F172A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Status</a:t>
                      </a:r>
                      <a:endParaRPr lang="en-US" sz="1650" b="1" i="0" u="none" strike="noStrike" cap="none">
                        <a:solidFill>
                          <a:srgbClr val="0F172A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9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Authority Registration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registerRSU(...)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RSU successfully registered; authority becomes valid.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Pass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Credential Issuance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issueAttestationCredential(...)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Credential marked valid; restricted to CA only.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Pass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Attestation Creation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createAttestation(...)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Attestation stored on-chain; Pseudonym marked used.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Pass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4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Attestation Verification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verifyAttestation(...)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Returns true; displays valid RSU data and message.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Pass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19"/>
          <p:cNvSpPr/>
          <p:nvPr/>
        </p:nvSpPr>
        <p:spPr>
          <a:xfrm>
            <a:off x="571500" y="2282130"/>
            <a:ext cx="22303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1561207"/>
            <a:ext cx="2230338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801838" y="2282130"/>
            <a:ext cx="34099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2801838" y="1561207"/>
            <a:ext cx="3409950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211788" y="2282130"/>
            <a:ext cx="423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211788" y="1561207"/>
            <a:ext cx="4236987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0448776" y="2282130"/>
            <a:ext cx="117172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0448776" y="1561207"/>
            <a:ext cx="117172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" y="3282255"/>
            <a:ext cx="22303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801838" y="3282255"/>
            <a:ext cx="34099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211788" y="3282255"/>
            <a:ext cx="423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10448776" y="3282255"/>
            <a:ext cx="117172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571500" y="4282380"/>
            <a:ext cx="22303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2801838" y="4282380"/>
            <a:ext cx="34099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211788" y="4282380"/>
            <a:ext cx="423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0448776" y="4282380"/>
            <a:ext cx="117172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71500" y="5282505"/>
            <a:ext cx="2230338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801838" y="5282505"/>
            <a:ext cx="34099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211788" y="5282505"/>
            <a:ext cx="423698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10448776" y="5282505"/>
            <a:ext cx="117172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569684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469671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269646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369659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269646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369659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469671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677376" y="5696842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571500" y="570607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Core Validation Scenarios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1809750" y="2209800"/>
            <a:ext cx="9048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Duplicate Pseudonyms (Replay Protection):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Transactions revert with "Pseudonym already used" if a vehicle attempts to reuse an ID, ensuring strict replay protection.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809750" y="3067050"/>
            <a:ext cx="9048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Expired Attestations: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Verification fails automatically with an "Certificate expired" error if the current timestamp exceeds the specified expiry time.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809750" y="3924300"/>
            <a:ext cx="9048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Unauthorized Actions: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Only registered RSUs can issue credentials; attempts by unknown nodes revert immediately with "RSU not authorized".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809750" y="4781550"/>
            <a:ext cx="904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Revocation Handling: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Attestations can be permanently marked as revoked by authorities, neutralizing compromised credentials network-wide.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33500" y="22431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3500" y="31003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33500" y="39576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333500" y="4814887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Security &amp; Edge Case Testing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571500" y="7620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System Security Model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571500" y="1933575"/>
            <a:ext cx="4953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Our architecture ensures robust protection through multiple layers. Pseudonym-based anonymity completely masks true vehicle identities, while certificate validation guarantees institutional authenticity.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71500" y="360045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Furthermore, strict expiry time checks and unique pseudonym tracking prevent replay attacks and malicious data reuse. A swift revocation mechanism neutralizes compromised nodes instantly.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671637"/>
            <a:ext cx="528637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1671637"/>
            <a:ext cx="52863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962025" y="20621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Technical Constraints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962025" y="26050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While the logic is sound, certain real-world implementations are abstracted for this prototype: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6724650" y="20621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284C7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Scope Constraints</a:t>
            </a:r>
            <a:endParaRPr lang="en-US" sz="2100" b="0" i="0" u="none" strike="noStrike" cap="none">
              <a:solidFill>
                <a:srgbClr val="0284C7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6724650" y="26050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system is designed as an academic proof-of-concept rather than production-ready software.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1095375" y="36623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1200150" y="3662362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 ECDSA Verification: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True cryptographic signature verification is currently not implemented on-chain to save gas costs.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1095375" y="47196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1200150" y="4719637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 V2X Simulation: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Operates without a simulated hardware network (e.g., physical DSRC/C-V2X radios).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6858000" y="3662362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6962775" y="3662362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Prototype Level: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Represents a baseline implementation for academic demonstration.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6858000" y="44148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6962775" y="4414837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Simplified Security: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Models a simplified C-ITS security architecture, omitting complex cross-border PKI root exchanges.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Current Limitations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71500" y="539680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While Certoshi focuses on institutional certificates, this project successfully extends the concept into highly-mobile, privacy-critical vehicular networks.</a:t>
            </a:r>
            <a:endParaRPr lang="en-US" sz="1500" b="0" i="1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1689794"/>
            <a:ext cx="11049000" cy="35165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263" name="Google Shape;263;p23"/>
          <p:cNvGraphicFramePr/>
          <p:nvPr/>
        </p:nvGraphicFramePr>
        <p:xfrm>
          <a:off x="571500" y="1689794"/>
          <a:ext cx="11049000" cy="3516500"/>
        </p:xfrm>
        <a:graphic>
          <a:graphicData uri="http://schemas.openxmlformats.org/drawingml/2006/table">
            <a:tbl>
              <a:tblPr firstRow="1" bandRow="1">
                <a:noFill/>
                <a:tableStyleId>{02A9417B-0BBB-482D-A99E-057E042D43D0}</a:tableStyleId>
              </a:tblPr>
              <a:tblGrid>
                <a:gridCol w="3023750"/>
                <a:gridCol w="4101400"/>
                <a:gridCol w="3923850"/>
              </a:tblGrid>
              <a:tr h="703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Feature Specification</a:t>
                      </a:r>
                      <a:endParaRPr lang="en-US" sz="1650" b="1" i="0" u="none" strike="noStrike" cap="none">
                        <a:solidFill>
                          <a:srgbClr val="0F172A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Certoshi System</a:t>
                      </a:r>
                      <a:endParaRPr lang="en-US" sz="1650" b="1" i="0" u="none" strike="noStrike" cap="none">
                        <a:solidFill>
                          <a:srgbClr val="0F172A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F172A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This Project (C-ITS)</a:t>
                      </a:r>
                      <a:endParaRPr lang="en-US" sz="1650" b="1" i="0" u="none" strike="noStrike" cap="none">
                        <a:solidFill>
                          <a:srgbClr val="0F172A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Application Domain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Digital Certificates (Education/Corp)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C-ITS Vehicular Systems (V2X)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Identity Management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Institutional / Real Identity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Pseudonym-based Vehicles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Privacy Focus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Low (Transparency first)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High (Anonymous Attestation)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Blockchain Role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Static Certificate Registry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Dynamic Trust &amp; Attestation Layer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23"/>
          <p:cNvSpPr/>
          <p:nvPr/>
        </p:nvSpPr>
        <p:spPr>
          <a:xfrm>
            <a:off x="571500" y="2420242"/>
            <a:ext cx="302374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71500" y="1699319"/>
            <a:ext cx="3023741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595241" y="2420242"/>
            <a:ext cx="410140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3595241" y="1699319"/>
            <a:ext cx="4101405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696646" y="2420242"/>
            <a:ext cx="39238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7696646" y="1699319"/>
            <a:ext cx="3923853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3115567"/>
            <a:ext cx="302374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595241" y="3115567"/>
            <a:ext cx="410140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7696646" y="3115567"/>
            <a:ext cx="39238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810892"/>
            <a:ext cx="302374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595241" y="3810892"/>
            <a:ext cx="410140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696646" y="3810892"/>
            <a:ext cx="39238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4506217"/>
            <a:ext cx="302374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595241" y="4506217"/>
            <a:ext cx="4101405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696646" y="4506217"/>
            <a:ext cx="3923853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Reference: Certoshi Comparison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295275" y="2025104"/>
            <a:ext cx="1160145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369A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Conclusion </a:t>
            </a:r>
            <a:endParaRPr lang="en-US" sz="5250" b="1" i="0" u="none" strike="noStrike" cap="none">
              <a:solidFill>
                <a:srgbClr val="0369A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3225254"/>
            <a:ext cx="11049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This project successfully demonstrates a blockchain-based anonymous attestation system for C-ITS, focusing on preserving vehicle privacy while ensuring decentralized, trust-based verification.</a:t>
            </a:r>
            <a:endParaRPr lang="en-US" sz="18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571500" y="4337595"/>
            <a:ext cx="11049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284C7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Feridun Tavşanlı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650" b="0" i="0" u="none" strike="noStrike" cap="none">
                <a:solidFill>
                  <a:srgbClr val="0284C7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 Student ID: 210304006</a:t>
            </a:r>
            <a:endParaRPr lang="en-US" sz="1650" b="0" i="0" u="none" strike="noStrike" cap="none">
              <a:solidFill>
                <a:srgbClr val="0284C7"/>
              </a:solidFill>
              <a:latin typeface="Inter Medium" panose="02000503000000020004"/>
              <a:ea typeface="Inter Medium" panose="02000503000000020004"/>
              <a:cs typeface="Inter Medium" panose="02000503000000020004"/>
              <a:sym typeface="Inter Medium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/>
          <p:nvPr/>
        </p:nvSpPr>
        <p:spPr>
          <a:xfrm>
            <a:off x="666750" y="2747069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666750" y="3531840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666750" y="352231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666750" y="352231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666750" y="430708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666750" y="4307085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9" name="Google Shape;299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6750" y="28964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1762125" y="2889944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https://www.mdpi.com/electronics/electronics-15-01042/article_deploy/html/images/electronics-15-01042-g002-550.jpg</a:t>
            </a:r>
            <a:endParaRPr lang="en-US" sz="97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1762125" y="3135659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www.mdpi.com</a:t>
            </a:r>
            <a:endParaRPr lang="en-US" sz="1200" b="0" i="0" u="none" strike="noStrike" cap="none">
              <a:solidFill>
                <a:srgbClr val="4F46E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02" name="Google Shape;302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6750" y="36812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1762125" y="3674715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https://www.mdpi.com/computers/computers-15-00198/article_deploy/html/images/computers-15-00198-g006-550.jpg</a:t>
            </a:r>
            <a:endParaRPr lang="en-US" sz="97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1762125" y="3920430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www.mdpi.com</a:t>
            </a:r>
            <a:endParaRPr lang="en-US" sz="1200" b="0" i="0" u="none" strike="noStrike" cap="none">
              <a:solidFill>
                <a:srgbClr val="4F46E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305" name="Google Shape;305;p2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6750" y="44660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1762125" y="4459485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https://png.pngtree.com/png-clipart/20250417/original/pngtree-cybersecurity-concept-with-a-glowing-lock-symbol-on-digital-background-png-image_20714179.png</a:t>
            </a:r>
            <a:endParaRPr lang="en-US" sz="975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1762125" y="4952851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pngtree.com</a:t>
            </a:r>
            <a:endParaRPr lang="en-US" sz="1200" b="0" i="0" u="none" strike="noStrike" cap="none">
              <a:solidFill>
                <a:srgbClr val="4F46E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369A1"/>
                </a:solidFill>
                <a:latin typeface="Poppins SemiBold" panose="00000700000000000000"/>
                <a:ea typeface="Poppins SemiBold" panose="00000700000000000000"/>
                <a:cs typeface="Poppins SemiBold" panose="00000700000000000000"/>
                <a:sym typeface="Poppins SemiBold" panose="00000700000000000000"/>
              </a:rPr>
              <a:t>Image Sources</a:t>
            </a:r>
            <a:endParaRPr lang="en-US" sz="3150" b="0" i="0" u="none" strike="noStrike" cap="none">
              <a:solidFill>
                <a:srgbClr val="0369A1"/>
              </a:solidFill>
              <a:latin typeface="Poppins SemiBold" panose="00000700000000000000"/>
              <a:ea typeface="Poppins SemiBold" panose="00000700000000000000"/>
              <a:cs typeface="Poppins SemiBold" panose="00000700000000000000"/>
              <a:sym typeface="Poppins SemiBold" panose="000007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5835</Words>
  <Application>WPS Presentation</Application>
  <PresentationFormat/>
  <Paragraphs>238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Poppins</vt:lpstr>
      <vt:lpstr>Inter</vt:lpstr>
      <vt:lpstr>Inter Medium</vt:lpstr>
      <vt:lpstr>Poppins SemiBold</vt:lpstr>
      <vt:lpstr>Inter SemiBold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ferid</cp:lastModifiedBy>
  <cp:revision>1</cp:revision>
  <dcterms:created xsi:type="dcterms:W3CDTF">2026-05-30T14:43:07Z</dcterms:created>
  <dcterms:modified xsi:type="dcterms:W3CDTF">2026-05-30T14:43:11Z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7BA023AE1C534855A86E26B0F4687400_12</vt:lpwstr>
  </property>
  <property fmtid="{D5CDD505-2E9C-101B-9397-08002B2CF9AE}" pid="3" name="KSOProductBuildVer">
    <vt:lpwstr>1033-12.1.0.26372</vt:lpwstr>
  </property>
</Properties>
</file>