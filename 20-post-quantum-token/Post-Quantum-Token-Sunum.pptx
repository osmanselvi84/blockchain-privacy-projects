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tr-T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18DF6C5-0E45-47F0-9CA6-783AEFE1A86D}" type="slidenum"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Kendimi ve projeyi tanıt: Konu 20, Post-Quantum Token. Amaç: kuantum bilgisayarların kırabileceği ECDSA yerine, sadece hash fonksiyonuna dayanan Lamport tek-kullanımlık imzalarla çalışan bir token yazmak. Sunumda önce neden gerektiğini, sonra Lamport'un nasıl çalıştığını, ardından kontratı ve kodu, en son testleri ve referans karşılaştırmasını anlatacağım.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A84722-7EB5-4CD4-ADC3-F6B1010C97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Ana mesaj: blockchain imzaları (ECDSA) eliptik eğri matematiğine dayanır. Shor algoritması bunu kuantum bilgisayarda çözebilir, yani gizli anahtar açık anahtardan bulunabilir. O zaman herkesin parası riske girer. Çözüm: kuantuma dirençli imza. Bizim seçimimiz hash tabanlı Lamport.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F35BFF-7793-4EF7-81F7-95D7AE81DA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Kritik ayrım. İki kuantum algoritması var. Shor: RSA/ECDSA'yı kırar (üstel hızlanma). Grover: sadece arama hızlandırır, karekök kadar — yani 256-bit hash'i 128-bit'e düşürür ama kırmaz. Hash hâlâ güvenli. Lamport sadece hash kullandığı için Shor onu etkilemez; bu yüzden post-kuantum güvenli.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900118-9075-4EBA-9A73-068339FFF3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Lamport'u üç adımda özetle: anahtar üret, imzala, doğrula. Vurgula: tek dayanak hash fonksiyonu; bu basitlik onu kuantum-dirençli yapar. Ve en kritik özellik: tek kullanımlık. Bir anahtarla iki kez imzalarsan güvenlik kırılır — bu yüzden token'da her transferden sonra anahtar döndürüyoruz.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41E4D-C949-4975-BB7D-82034DB18E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Anahtar üretimi. 256 bitin HER BİRİ için iki rastgele gizli sayı: sk0 ve sk1. Açık anahtar bunların hash'i: pk0=SHA256(sk0), pk1=SHA256(sk1). Hash tek yönlü olduğu için açıktan gizliye dönülemez. Toplam 512 gizli + 512 açık değer. Kodda _genKeys fonksiyonu bunu yapıyor.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D9733-2A72-47B9-ABB4-BCB3A589EF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İmzalama. Mesajı hashle, 256 bit elde et. Her bit için: bit 1 ise sk1'i, bit 0 ise sk0'ı açığa çıkar. İmza bu 256 açılan değerin listesi. Çok önemli nokta: her bit için sadece bir yarı açılıyor, diğeri gizli kalıyor. İşte bu yüzden tek kullanımlık — ikinci imzada başka yarılar da açılır ve saldırgan birleştirip sahte imza üretebilir.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6CE0A-54D7-4572-9C49-9F3931FD80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Doğrulama. Aynı mesaj hash'i. Her bit için: imzadaki değeri SHA-256'la, sonucu beklenen açık anahtar yarısıyla karşılaştır — bit 0 ise pk0[i], bit 1 ise pk1[i]. 256'sı da tutarsa geçerli; biri tutmazsa geçersiz. Bu mantık birebir verifyLamport döngüsü; sonraki slaytta kodunu göstereceğim.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D41E4B-D599-4DD7-9D91-A9052AC680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Tek kullanımlık neden? Çünkü imza her biti için gizlinin yarısını sızdırır. İki kez imzalarsan iki farklı bit deseni için yarılar açılır, saldırgan yeterince parça toplayıp sahte imza kurabilir. Çözüm: her transferden sonra anahtarı döndür. Kontratta transfer çağrısı bir sonraki taahhüdü içerir; eski anahtar geçersizleşir.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FFFA59-8E2D-4B9A-864C-E7DCD24291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Proje ne yapıyor? ERC-20 gibi bakiye taşıyan bir token, ama transfer izni ECDSA imzası yerine Lamport imzasıyla veriliyor. Üç temel iş: register (kaydol), transfer (gönder), rotate (anahtar döndür). Her hesap tüm açık anahtarı değil, onun kısa taahhüdünü saklar — bu zincirde yer tasarrufu sağlar.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EFB55-A528-4FB2-9C82-FDEC98079F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 ÖNEMLİ SLAYT — bunu ezberden açıklayabilmeliyim. Fonksiyon 256 bit boyunca dönüyor. Satır satır: (1) bit = msgHash'i i kadar sağa kaydır, &amp; 1 ile son biti al — 0 veya 1. (2) expected = bite göre pk0[i] ya da pk1[i]. (3) imzadaki değeri sha256'la, beklenenle karşılaştır; tutmazsa anında false döndür. Döngü temiz biterse true. Soru gelirse: 'commitment kontrolünü silersen sahtecilik, rotasyonu silersen replay olur' diyebilirim.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DFF4AF-B8E7-42E0-A519-E4640FAC45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transfer'in mantığı bir kontrol zinciri. Sırayla: alıcı sıfır değil; verilen anahtar kayıtlı taahhütle eşleşiyor mu (keccak); mesaj hash'i gönderen+alıcı+miktar+nonce+yeni taahhütten kuruluyor (mesaj bağlama); verifyLamport ile imza doğrulanıyor; bakiye yeterli mi; en son token taşınıyor, anahtar dönüyor, nonce artıyor, olay yayılıyor. Her adım belirli bir saldırıyı engelliyor — bunu anlatabilmeliyim.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38F2C-00A1-4A09-A92E-CB91D8CADF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Replay = aynı imzayı tekrar oynatma. Üç katman koruma: nonce her transferde artar, böylece mesaj hash'i değişir ve eski imza tutmaz; anahtar rotasyonu eski anahtarı geçersiz kılar; mesaj bağlama imzayı tek bir transfere kilitler. test_ReplayAfterRotationFails testi bunu gösteriyor: eski anahtarla deneme 'Public key mismatch' ile geri döner.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412EDC-ED5A-4AEA-8BBA-39B0E7D4AA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Testler Foundry (forge test) ile yazıldı. Altı test: kayıt, geçerli transfer, ve üç hata yolu (bozuk imza, yetersiz bakiye, replay) reddedilir. Ayrıca test_Custom parametreli — eğitmen AMOUNT/TAMPER gibi env değişkenleriyle kendi senaryosunu deneyebilir. Hepsi geçiyor: 6/6.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DA3687-C246-4C8C-B15C-B0630B1586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Dürüst kısıtlar (hoca sorabilir): Lamport imzası ve anahtarı çok büyük (KB'lar); tek kullanımlık olduğu için sürekli rotasyon gerek; gas pahalı. Gerçekte XMSS/SPHINCS+ (Merkle ağacı ile çok imzalı) ya da Dilithium (kafes tabanlı) kullanılır. Bu proje şemayı net göstermek için bilerek saf Lamport. Bunu söylemek olgunluk gösterir.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987267-0A7E-4B9A-B901-6FE0EF0232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Kapanış özeti: ECDSA kuantumda kırılır, Lamport güvenli; token transferleri Lamport ile yetkilendirilir + rotasyon; iki hash'in rolü; replay/sahtecilik korumaları; 6/6 test + referans denkliği. Soru almaya hazır olduğumu söyle. Olası sorular: verifyLamport'u tahtada yaz; commitment/rotasyonu silsen ne olur; neden iki hash; Shor vs Grover farkı.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526A8D-45AF-496C-87D8-9D3C83BFBA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tr-T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tr-T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tr-T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tr-T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tr-T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tr-T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tr-T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tr-T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0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9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>
            <a:alphaModFix amt="16000"/>
          </a:blip>
          <a:stretch/>
        </p:blipFill>
        <p:spPr>
          <a:xfrm>
            <a:off x="8595360" y="1554480"/>
            <a:ext cx="3474360" cy="3474360"/>
          </a:xfrm>
          <a:prstGeom prst="rect">
            <a:avLst/>
          </a:prstGeom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9555480" y="2487240"/>
            <a:ext cx="1554120" cy="1554120"/>
          </a:xfrm>
          <a:prstGeom prst="ellipse">
            <a:avLst/>
          </a:prstGeom>
          <a:solidFill>
            <a:srgbClr val="a78bfa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822960" y="12344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777240" y="1828800"/>
            <a:ext cx="7863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Trebuchet MS"/>
                <a:ea typeface="Trebuchet MS"/>
              </a:rPr>
              <a:t>Post-Quantum Token</a:t>
            </a:r>
            <a:endParaRPr b="0" lang="tr-TR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22960" y="297180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c2cce6"/>
                </a:solidFill>
                <a:latin typeface="Calibri"/>
                <a:ea typeface="Calibri"/>
              </a:rPr>
              <a:t>Lamport tek-kullanımlık imzalarla kuantum-dirençli token</a:t>
            </a:r>
            <a:endParaRPr b="0" lang="tr-T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841320" y="4160520"/>
            <a:ext cx="502560" cy="4068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22960" y="4389120"/>
            <a:ext cx="6400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rebuchet MS"/>
                <a:ea typeface="Trebuchet MS"/>
              </a:rPr>
              <a:t>Ahmet Murat Sencay</a:t>
            </a:r>
            <a:endParaRPr b="0" lang="tr-TR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2cce6"/>
                </a:solidFill>
                <a:latin typeface="Calibri"/>
                <a:ea typeface="Calibri"/>
              </a:rPr>
              <a:t>Öğrenci No: 220304038</a:t>
            </a:r>
            <a:endParaRPr b="0" lang="tr-T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Problem: Neden Post-Kuantum?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5800" y="1600200"/>
            <a:ext cx="6537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Bugünkü blok zincirlerde işlemler ECDSA (eliptik eğri) imzasıyla yetkilendirilir.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Yeterince güçlü bir kuantum bilgisayar + Shor algoritması, açık anahtardan gizli anahtarı geri çıkarabilir.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Bu, ECDSA ve RSA'yı tamamen kırar — saldırgan herkesin imzasını taklit edip parasını harcayabilir.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İhtiyaç: yalnızca güvenli varsayımlara (hash fonksiyonu) dayanan, kuantuma dirençli imzalar.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7635240" y="1645920"/>
            <a:ext cx="3931560" cy="3657240"/>
          </a:xfrm>
          <a:prstGeom prst="roundRect">
            <a:avLst>
              <a:gd name="adj" fmla="val 2250"/>
            </a:avLst>
          </a:prstGeom>
          <a:solidFill>
            <a:srgbClr val="0a0e2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9098280" y="2057400"/>
            <a:ext cx="1005480" cy="1005480"/>
          </a:xfrm>
          <a:prstGeom prst="ellipse">
            <a:avLst/>
          </a:prstGeom>
          <a:solidFill>
            <a:srgbClr val="dc262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Image 0" descr="preencoded.png"/>
          <p:cNvPicPr/>
          <p:nvPr/>
        </p:nvPicPr>
        <p:blipFill>
          <a:blip r:embed="rId1"/>
          <a:stretch/>
        </p:blipFill>
        <p:spPr>
          <a:xfrm>
            <a:off x="9329760" y="2288880"/>
            <a:ext cx="542880" cy="542880"/>
          </a:xfrm>
          <a:prstGeom prst="rect">
            <a:avLst/>
          </a:prstGeom>
          <a:ln w="0">
            <a:noFill/>
          </a:ln>
        </p:spPr>
      </p:pic>
      <p:sp>
        <p:nvSpPr>
          <p:cNvPr id="21" name="Text 5"/>
          <p:cNvSpPr/>
          <p:nvPr/>
        </p:nvSpPr>
        <p:spPr>
          <a:xfrm>
            <a:off x="7772400" y="32461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rebuchet MS"/>
                <a:ea typeface="Trebuchet MS"/>
              </a:rPr>
              <a:t>ECDSA  /  RSA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7772400" y="37033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97" strike="noStrike">
                <a:solidFill>
                  <a:srgbClr val="22d3ee"/>
                </a:solidFill>
                <a:latin typeface="Trebuchet MS"/>
                <a:ea typeface="Trebuchet MS"/>
              </a:rPr>
              <a:t>kuantum bilgisayarda KIRILIR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7772400" y="416052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2cce6"/>
                </a:solidFill>
                <a:latin typeface="Calibri"/>
                <a:ea typeface="Calibri"/>
              </a:rPr>
              <a:t>Shor algoritması gizli anahtarı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2cce6"/>
                </a:solidFill>
                <a:latin typeface="Calibri"/>
                <a:ea typeface="Calibri"/>
              </a:rPr>
              <a:t>açık anahtardan polinom zamanda bulur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Shor vs Grover: Neden Hash Tabanlı?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640080" y="1600200"/>
            <a:ext cx="5303160" cy="3245760"/>
          </a:xfrm>
          <a:prstGeom prst="roundRect">
            <a:avLst>
              <a:gd name="adj" fmla="val 2535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960120" y="1920240"/>
            <a:ext cx="621360" cy="621360"/>
          </a:xfrm>
          <a:prstGeom prst="ellipse">
            <a:avLst/>
          </a:prstGeom>
          <a:solidFill>
            <a:srgbClr val="dc262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1103040" y="206316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29" name="Text 4"/>
          <p:cNvSpPr/>
          <p:nvPr/>
        </p:nvSpPr>
        <p:spPr>
          <a:xfrm>
            <a:off x="1783080" y="194760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dc2626"/>
                </a:solidFill>
                <a:latin typeface="Trebuchet MS"/>
                <a:ea typeface="Trebuchet MS"/>
              </a:rPr>
              <a:t>Shor Algoritması</a:t>
            </a:r>
            <a:endParaRPr b="0" lang="tr-T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960120" y="2743200"/>
            <a:ext cx="4708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Çarpanlara ayırma ve ayrık logaritmayı polinom zamanda çözer.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RSA, Diffie-Hellman, ECDSA → tamamen KIRILIR.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Açık anahtardan gizli anahtar elde edilir.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6263640" y="1600200"/>
            <a:ext cx="5303160" cy="3245760"/>
          </a:xfrm>
          <a:prstGeom prst="roundRect">
            <a:avLst>
              <a:gd name="adj" fmla="val 2535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583680" y="1920240"/>
            <a:ext cx="621360" cy="621360"/>
          </a:xfrm>
          <a:prstGeom prst="ellipse">
            <a:avLst/>
          </a:prstGeom>
          <a:solidFill>
            <a:srgbClr val="16a34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" name="Image 1" descr="preencoded.png"/>
          <p:cNvPicPr/>
          <p:nvPr/>
        </p:nvPicPr>
        <p:blipFill>
          <a:blip r:embed="rId2"/>
          <a:stretch/>
        </p:blipFill>
        <p:spPr>
          <a:xfrm>
            <a:off x="6726600" y="206316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34" name="Text 8"/>
          <p:cNvSpPr/>
          <p:nvPr/>
        </p:nvSpPr>
        <p:spPr>
          <a:xfrm>
            <a:off x="7406640" y="194760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6a34a"/>
                </a:solidFill>
                <a:latin typeface="Trebuchet MS"/>
                <a:ea typeface="Trebuchet MS"/>
              </a:rPr>
              <a:t>Grover Algoritması</a:t>
            </a:r>
            <a:endParaRPr b="0" lang="tr-T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6583680" y="2743200"/>
            <a:ext cx="4708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Arama problemlerinde yalnızca karekök hızlanma sağlar.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Hash güvenliğini yarıya indirir: 256-bit → ~128-bit.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00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Hash'i KIRMAZ, sadece zayıflatır → 256-bit hâlâ güvenli.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640080" y="5074920"/>
            <a:ext cx="10926720" cy="1051200"/>
          </a:xfrm>
          <a:prstGeom prst="roundRect">
            <a:avLst>
              <a:gd name="adj" fmla="val 7826"/>
            </a:avLst>
          </a:prstGeom>
          <a:solidFill>
            <a:srgbClr val="da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960120" y="5349240"/>
            <a:ext cx="502560" cy="502560"/>
          </a:xfrm>
          <a:prstGeom prst="ellipse">
            <a:avLst/>
          </a:prstGeom>
          <a:solidFill>
            <a:srgbClr val="0e7490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Image 2" descr="preencoded.png"/>
          <p:cNvPicPr/>
          <p:nvPr/>
        </p:nvPicPr>
        <p:blipFill>
          <a:blip r:embed="rId3"/>
          <a:stretch/>
        </p:blipFill>
        <p:spPr>
          <a:xfrm>
            <a:off x="1075680" y="5464800"/>
            <a:ext cx="271080" cy="271080"/>
          </a:xfrm>
          <a:prstGeom prst="rect">
            <a:avLst/>
          </a:prstGeom>
          <a:ln w="0">
            <a:noFill/>
          </a:ln>
        </p:spPr>
      </p:pic>
      <p:sp>
        <p:nvSpPr>
          <p:cNvPr id="39" name="Text 12"/>
          <p:cNvSpPr/>
          <p:nvPr/>
        </p:nvSpPr>
        <p:spPr>
          <a:xfrm>
            <a:off x="1645920" y="5120640"/>
            <a:ext cx="96922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7490"/>
                </a:solidFill>
                <a:latin typeface="Trebuchet MS"/>
                <a:ea typeface="Trebuchet MS"/>
              </a:rPr>
              <a:t>Sonuç:  </a:t>
            </a:r>
            <a:r>
              <a:rPr b="0" lang="en-US" sz="1400" spc="-1" strike="noStrike">
                <a:solidFill>
                  <a:srgbClr val="16224a"/>
                </a:solidFill>
                <a:latin typeface="Calibri"/>
                <a:ea typeface="Calibri"/>
              </a:rPr>
              <a:t>Hash tabanlı imzalar (Lamport) yalnızca bir hash fonksiyonuna dayandığı için post-kuantum güvenli kabul edilir.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Lamport İmzası: Temel Fikir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777240" y="1783080"/>
            <a:ext cx="3200040" cy="2331360"/>
          </a:xfrm>
          <a:prstGeom prst="roundRect">
            <a:avLst>
              <a:gd name="adj" fmla="val 3529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1974960" y="2057400"/>
            <a:ext cx="804240" cy="804240"/>
          </a:xfrm>
          <a:prstGeom prst="ellipse">
            <a:avLst/>
          </a:prstGeom>
          <a:solidFill>
            <a:srgbClr val="1e2a52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2160000" y="2242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45" name="Text 4"/>
          <p:cNvSpPr/>
          <p:nvPr/>
        </p:nvSpPr>
        <p:spPr>
          <a:xfrm>
            <a:off x="960120" y="301752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24a"/>
                </a:solidFill>
                <a:latin typeface="Trebuchet MS"/>
                <a:ea typeface="Trebuchet MS"/>
              </a:rPr>
              <a:t>Anahtar Üretimi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005840" y="345636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86"/>
                </a:solidFill>
                <a:latin typeface="Calibri"/>
                <a:ea typeface="Calibri"/>
              </a:rPr>
              <a:t>Her bit için iki gizli sayı ve onların hash'leri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3977640" y="27889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4572000" y="1783080"/>
            <a:ext cx="3200040" cy="2331360"/>
          </a:xfrm>
          <a:prstGeom prst="roundRect">
            <a:avLst>
              <a:gd name="adj" fmla="val 3529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5769720" y="2057400"/>
            <a:ext cx="804240" cy="804240"/>
          </a:xfrm>
          <a:prstGeom prst="ellipse">
            <a:avLst/>
          </a:prstGeom>
          <a:solidFill>
            <a:srgbClr val="0e7490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1" descr="preencoded.png"/>
          <p:cNvPicPr/>
          <p:nvPr/>
        </p:nvPicPr>
        <p:blipFill>
          <a:blip r:embed="rId2"/>
          <a:stretch/>
        </p:blipFill>
        <p:spPr>
          <a:xfrm>
            <a:off x="5954760" y="2242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51" name="Text 9"/>
          <p:cNvSpPr/>
          <p:nvPr/>
        </p:nvSpPr>
        <p:spPr>
          <a:xfrm>
            <a:off x="4754880" y="301752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24a"/>
                </a:solidFill>
                <a:latin typeface="Trebuchet MS"/>
                <a:ea typeface="Trebuchet MS"/>
              </a:rPr>
              <a:t>İmzalama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4800600" y="345636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86"/>
                </a:solidFill>
                <a:latin typeface="Calibri"/>
                <a:ea typeface="Calibri"/>
              </a:rPr>
              <a:t>Mesajın bitlerine göre gizli sayıları açığa çıkar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7772400" y="27889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8366760" y="1783080"/>
            <a:ext cx="3200040" cy="2331360"/>
          </a:xfrm>
          <a:prstGeom prst="roundRect">
            <a:avLst>
              <a:gd name="adj" fmla="val 3529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9564480" y="2057400"/>
            <a:ext cx="804240" cy="804240"/>
          </a:xfrm>
          <a:prstGeom prst="ellipse">
            <a:avLst/>
          </a:prstGeom>
          <a:solidFill>
            <a:srgbClr val="a78bf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Image 2" descr="preencoded.png"/>
          <p:cNvPicPr/>
          <p:nvPr/>
        </p:nvPicPr>
        <p:blipFill>
          <a:blip r:embed="rId3"/>
          <a:stretch/>
        </p:blipFill>
        <p:spPr>
          <a:xfrm>
            <a:off x="9749520" y="2242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57" name="Text 14"/>
          <p:cNvSpPr/>
          <p:nvPr/>
        </p:nvSpPr>
        <p:spPr>
          <a:xfrm>
            <a:off x="8549640" y="301752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24a"/>
                </a:solidFill>
                <a:latin typeface="Trebuchet MS"/>
                <a:ea typeface="Trebuchet MS"/>
              </a:rPr>
              <a:t>Doğrulama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8595360" y="345636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86"/>
                </a:solidFill>
                <a:latin typeface="Calibri"/>
                <a:ea typeface="Calibri"/>
              </a:rPr>
              <a:t>Açılan değerleri hash'leyip açık anahtarla karşılaştır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777240" y="4572000"/>
            <a:ext cx="10789560" cy="1554120"/>
          </a:xfrm>
          <a:prstGeom prst="roundRect">
            <a:avLst>
              <a:gd name="adj" fmla="val 5294"/>
            </a:avLst>
          </a:prstGeom>
          <a:solidFill>
            <a:srgbClr val="da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1051560" y="4754880"/>
            <a:ext cx="10240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6224a"/>
                </a:solidFill>
                <a:latin typeface="Calibri"/>
                <a:ea typeface="Calibri"/>
              </a:rPr>
              <a:t>Sadece bir hash fonksiyonuna (SHA-256) dayanır — sayı teorisi yok.</a:t>
            </a:r>
            <a:endParaRPr b="0" lang="tr-TR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e7490"/>
                </a:solidFill>
                <a:latin typeface="Calibri"/>
                <a:ea typeface="Calibri"/>
              </a:rPr>
              <a:t>Her anahtar yalnızca BİR kez güvenle kullanılır → “tek kullanımlık” (one-time signature). İmzaladıktan sonra yeni anahtara geçilir.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1) Anahtar Üretimi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1280160" y="1554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5b6b86"/>
                </a:solidFill>
                <a:latin typeface="Calibri"/>
              </a:rPr>
              <a:t>GİZLİ ANAHTAR (sk)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6035040" y="1554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e7490"/>
                </a:solidFill>
                <a:latin typeface="Calibri"/>
              </a:rPr>
              <a:t>AÇIK ANAHTAR (pk)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280160" y="2011680"/>
            <a:ext cx="2742840" cy="868320"/>
          </a:xfrm>
          <a:prstGeom prst="roundRect">
            <a:avLst>
              <a:gd name="adj" fmla="val 6316"/>
            </a:avLst>
          </a:prstGeom>
          <a:solidFill>
            <a:srgbClr val="1e2a52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280160" y="2011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sk0[i] = 0x9a3f … c2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1280160" y="3154680"/>
            <a:ext cx="2742840" cy="868320"/>
          </a:xfrm>
          <a:prstGeom prst="roundRect">
            <a:avLst>
              <a:gd name="adj" fmla="val 6316"/>
            </a:avLst>
          </a:prstGeom>
          <a:solidFill>
            <a:srgbClr val="1e2a52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1280160" y="3154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sk1[i] = 0x2c7b … e1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4160520" y="219456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160520" y="333756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160520" y="28803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490"/>
                </a:solidFill>
                <a:latin typeface="Trebuchet MS"/>
                <a:ea typeface="Trebuchet MS"/>
              </a:rPr>
              <a:t>SHA-256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6035040" y="2011680"/>
            <a:ext cx="274284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2d3ee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6035040" y="2011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224a"/>
                </a:solidFill>
                <a:latin typeface="Consolas"/>
                <a:ea typeface="Consolas"/>
              </a:rPr>
              <a:t>pk0[i] = 0x5d1e … aa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6035040" y="3154680"/>
            <a:ext cx="274284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2d3ee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035040" y="3154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224a"/>
                </a:solidFill>
                <a:latin typeface="Consolas"/>
                <a:ea typeface="Consolas"/>
              </a:rPr>
              <a:t>pk1[i] = 0x8fa0 … 3b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9098280" y="2011680"/>
            <a:ext cx="2468520" cy="2011320"/>
          </a:xfrm>
          <a:prstGeom prst="roundRect">
            <a:avLst>
              <a:gd name="adj" fmla="val 4091"/>
            </a:avLst>
          </a:prstGeom>
          <a:solidFill>
            <a:srgbClr val="da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9281160" y="2194560"/>
            <a:ext cx="21027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224a"/>
                </a:solidFill>
                <a:latin typeface="Calibri"/>
                <a:ea typeface="Calibri"/>
              </a:rPr>
              <a:t>pk = SHA-256(sk)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224a"/>
                </a:solidFill>
                <a:latin typeface="Calibri"/>
                <a:ea typeface="Calibri"/>
              </a:rPr>
              <a:t>Tek yönlü: açık anahtardan gizliyi geri bulmak imkânsız.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1280160" y="4343400"/>
            <a:ext cx="102409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Her bit için İKİ gizli değer üretilir: sk0[i] ve sk1[i].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Açık anahtar, her gizli değerin SHA-256 hash'idir.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N = 256 bit → 512 gizli değer ve 512 açık değer.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2) İmzalama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640080" y="14814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Mesajın SHA-256 hash'i 256 bit. Her bit, hangi gizli değerin açığa çıkacağını belirler: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1051560" y="2148840"/>
            <a:ext cx="1371240" cy="639720"/>
          </a:xfrm>
          <a:prstGeom prst="roundRect">
            <a:avLst>
              <a:gd name="adj" fmla="val 8571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051560" y="21488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51560" y="285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</a:rPr>
              <a:t>↓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1051560" y="3246120"/>
            <a:ext cx="1371240" cy="868320"/>
          </a:xfrm>
          <a:prstGeom prst="roundRect">
            <a:avLst>
              <a:gd name="adj" fmla="val 631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1051560" y="3246120"/>
            <a:ext cx="137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sk1[0]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0xa1…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2807280" y="2148840"/>
            <a:ext cx="1371240" cy="639720"/>
          </a:xfrm>
          <a:prstGeom prst="roundRect">
            <a:avLst>
              <a:gd name="adj" fmla="val 8571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2807280" y="21488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2807280" y="285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</a:rPr>
              <a:t>↓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2807280" y="3246120"/>
            <a:ext cx="1371240" cy="868320"/>
          </a:xfrm>
          <a:prstGeom prst="roundRect">
            <a:avLst>
              <a:gd name="adj" fmla="val 631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2807280" y="3246120"/>
            <a:ext cx="137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sk0[1]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0x7c…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4563000" y="2148840"/>
            <a:ext cx="1371240" cy="639720"/>
          </a:xfrm>
          <a:prstGeom prst="roundRect">
            <a:avLst>
              <a:gd name="adj" fmla="val 8571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4563000" y="21488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4563000" y="285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</a:rPr>
              <a:t>↓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4563000" y="3246120"/>
            <a:ext cx="1371240" cy="868320"/>
          </a:xfrm>
          <a:prstGeom prst="roundRect">
            <a:avLst>
              <a:gd name="adj" fmla="val 631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4563000" y="3246120"/>
            <a:ext cx="137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sk1[2]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0x5e…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6318360" y="2148840"/>
            <a:ext cx="1371240" cy="639720"/>
          </a:xfrm>
          <a:prstGeom prst="roundRect">
            <a:avLst>
              <a:gd name="adj" fmla="val 8571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6318360" y="21488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6318360" y="285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</a:rPr>
              <a:t>↓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1"/>
          <p:cNvSpPr/>
          <p:nvPr/>
        </p:nvSpPr>
        <p:spPr>
          <a:xfrm>
            <a:off x="6318360" y="3246120"/>
            <a:ext cx="1371240" cy="868320"/>
          </a:xfrm>
          <a:prstGeom prst="roundRect">
            <a:avLst>
              <a:gd name="adj" fmla="val 631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2"/>
          <p:cNvSpPr/>
          <p:nvPr/>
        </p:nvSpPr>
        <p:spPr>
          <a:xfrm>
            <a:off x="6318360" y="3246120"/>
            <a:ext cx="137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sk1[3]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0x33…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3"/>
          <p:cNvSpPr/>
          <p:nvPr/>
        </p:nvSpPr>
        <p:spPr>
          <a:xfrm>
            <a:off x="8074080" y="2148840"/>
            <a:ext cx="1371240" cy="639720"/>
          </a:xfrm>
          <a:prstGeom prst="roundRect">
            <a:avLst>
              <a:gd name="adj" fmla="val 8571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4"/>
          <p:cNvSpPr/>
          <p:nvPr/>
        </p:nvSpPr>
        <p:spPr>
          <a:xfrm>
            <a:off x="8074080" y="21488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8074080" y="285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</a:rPr>
              <a:t>↓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8074080" y="3246120"/>
            <a:ext cx="1371240" cy="868320"/>
          </a:xfrm>
          <a:prstGeom prst="roundRect">
            <a:avLst>
              <a:gd name="adj" fmla="val 631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8074080" y="3246120"/>
            <a:ext cx="137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sk0[4]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0x9b…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8"/>
          <p:cNvSpPr/>
          <p:nvPr/>
        </p:nvSpPr>
        <p:spPr>
          <a:xfrm>
            <a:off x="9829800" y="2148840"/>
            <a:ext cx="1371240" cy="639720"/>
          </a:xfrm>
          <a:prstGeom prst="roundRect">
            <a:avLst>
              <a:gd name="adj" fmla="val 8571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9829800" y="21488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0"/>
          <p:cNvSpPr/>
          <p:nvPr/>
        </p:nvSpPr>
        <p:spPr>
          <a:xfrm>
            <a:off x="9829800" y="285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</a:rPr>
              <a:t>↓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1"/>
          <p:cNvSpPr/>
          <p:nvPr/>
        </p:nvSpPr>
        <p:spPr>
          <a:xfrm>
            <a:off x="9829800" y="3246120"/>
            <a:ext cx="1371240" cy="868320"/>
          </a:xfrm>
          <a:prstGeom prst="roundRect">
            <a:avLst>
              <a:gd name="adj" fmla="val 6316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2"/>
          <p:cNvSpPr/>
          <p:nvPr/>
        </p:nvSpPr>
        <p:spPr>
          <a:xfrm>
            <a:off x="9829800" y="3246120"/>
            <a:ext cx="137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sk1[5]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a0e27"/>
                </a:solidFill>
                <a:latin typeface="Consolas"/>
                <a:ea typeface="Consolas"/>
              </a:rPr>
              <a:t>0xd2…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3"/>
          <p:cNvSpPr/>
          <p:nvPr/>
        </p:nvSpPr>
        <p:spPr>
          <a:xfrm>
            <a:off x="1051560" y="422460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6b86"/>
                </a:solidFill>
                <a:latin typeface="Calibri"/>
                <a:ea typeface="Calibri"/>
              </a:rPr>
              <a:t>seçilen gizli değerler  =  imza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4"/>
          <p:cNvSpPr/>
          <p:nvPr/>
        </p:nvSpPr>
        <p:spPr>
          <a:xfrm>
            <a:off x="640080" y="4800600"/>
            <a:ext cx="10926720" cy="1325520"/>
          </a:xfrm>
          <a:prstGeom prst="roundRect">
            <a:avLst>
              <a:gd name="adj" fmla="val 6207"/>
            </a:avLst>
          </a:prstGeom>
          <a:solidFill>
            <a:srgbClr val="daf6fb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35"/>
          <p:cNvSpPr/>
          <p:nvPr/>
        </p:nvSpPr>
        <p:spPr>
          <a:xfrm>
            <a:off x="914400" y="4983480"/>
            <a:ext cx="10423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6224a"/>
                </a:solidFill>
                <a:latin typeface="Calibri"/>
                <a:ea typeface="Calibri"/>
              </a:rPr>
              <a:t>Bit 1 ise sk1[i], bit 0 ise sk0[i] açığa çıkar. </a:t>
            </a:r>
            <a:r>
              <a:rPr b="0" lang="en-US" sz="1400" spc="-1" strike="noStrike">
                <a:solidFill>
                  <a:srgbClr val="0e7490"/>
                </a:solidFill>
                <a:latin typeface="Calibri"/>
                <a:ea typeface="Calibri"/>
              </a:rPr>
              <a:t>İmza = 256 seçilmiş gizli değer. Her bit için yalnızca BİR yarı açılır; diğer yarı gizli kalır.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3) Doğrulama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640080" y="1481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Her bit için aynı kontrol yapılır: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822960" y="2240280"/>
            <a:ext cx="2102760" cy="914040"/>
          </a:xfrm>
          <a:prstGeom prst="roundRect">
            <a:avLst>
              <a:gd name="adj" fmla="val 6000"/>
            </a:avLst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822960" y="22402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imza[i]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(açılan değer)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2971800" y="242316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3657600" y="2240280"/>
            <a:ext cx="155412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3657600" y="224028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490"/>
                </a:solidFill>
                <a:latin typeface="Calibri"/>
                <a:ea typeface="Calibri"/>
              </a:rPr>
              <a:t>SHA-256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257800" y="24231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5897880" y="2240280"/>
            <a:ext cx="1737000" cy="9140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897880" y="22402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6224a"/>
                </a:solidFill>
                <a:latin typeface="Calibri"/>
                <a:ea typeface="Calibri"/>
              </a:rPr>
              <a:t>hash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6224a"/>
                </a:solidFill>
                <a:latin typeface="Calibri"/>
                <a:ea typeface="Calibri"/>
              </a:rPr>
              <a:t>sonucu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7726680" y="242316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a78bfa"/>
                </a:solidFill>
                <a:latin typeface="Calibri"/>
              </a:rPr>
              <a:t>=?</a:t>
            </a:r>
            <a:endParaRPr b="0" lang="tr-T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8412480" y="2240280"/>
            <a:ext cx="210276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8412480" y="22402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6224a"/>
                </a:solidFill>
                <a:latin typeface="Calibri"/>
                <a:ea typeface="Calibri"/>
              </a:rPr>
              <a:t>pk{bit}[i]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6224a"/>
                </a:solidFill>
                <a:latin typeface="Calibri"/>
                <a:ea typeface="Calibri"/>
              </a:rPr>
              <a:t>(beklenen)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10744200" y="2395800"/>
            <a:ext cx="603000" cy="603000"/>
          </a:xfrm>
          <a:prstGeom prst="ellipse">
            <a:avLst/>
          </a:prstGeom>
          <a:solidFill>
            <a:srgbClr val="16a34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" name="Image 0" descr="preencoded.png"/>
          <p:cNvPicPr/>
          <p:nvPr/>
        </p:nvPicPr>
        <p:blipFill>
          <a:blip r:embed="rId1"/>
          <a:stretch/>
        </p:blipFill>
        <p:spPr>
          <a:xfrm>
            <a:off x="10883160" y="2534400"/>
            <a:ext cx="325440" cy="325440"/>
          </a:xfrm>
          <a:prstGeom prst="rect">
            <a:avLst/>
          </a:prstGeom>
          <a:ln w="0">
            <a:noFill/>
          </a:ln>
        </p:spPr>
      </p:pic>
      <p:sp>
        <p:nvSpPr>
          <p:cNvPr id="131" name="Shape 15"/>
          <p:cNvSpPr/>
          <p:nvPr/>
        </p:nvSpPr>
        <p:spPr>
          <a:xfrm>
            <a:off x="822960" y="3520440"/>
            <a:ext cx="10606680" cy="868320"/>
          </a:xfrm>
          <a:prstGeom prst="roundRect">
            <a:avLst>
              <a:gd name="adj" fmla="val 9474"/>
            </a:avLst>
          </a:prstGeom>
          <a:solidFill>
            <a:srgbClr val="dcfce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6"/>
          <p:cNvSpPr/>
          <p:nvPr/>
        </p:nvSpPr>
        <p:spPr>
          <a:xfrm>
            <a:off x="1097280" y="3721680"/>
            <a:ext cx="456840" cy="456840"/>
          </a:xfrm>
          <a:prstGeom prst="ellipse">
            <a:avLst/>
          </a:prstGeom>
          <a:solidFill>
            <a:srgbClr val="16a34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1" descr="preencoded.png"/>
          <p:cNvPicPr/>
          <p:nvPr/>
        </p:nvPicPr>
        <p:blipFill>
          <a:blip r:embed="rId2"/>
          <a:stretch/>
        </p:blipFill>
        <p:spPr>
          <a:xfrm>
            <a:off x="1202400" y="3826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134" name="Text 17"/>
          <p:cNvSpPr/>
          <p:nvPr/>
        </p:nvSpPr>
        <p:spPr>
          <a:xfrm>
            <a:off x="1737360" y="3520440"/>
            <a:ext cx="9509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Calibri"/>
                <a:ea typeface="Calibri"/>
              </a:rPr>
              <a:t>256 bitin HEPSİ eşleşirse  →  </a:t>
            </a:r>
            <a:r>
              <a:rPr b="1" lang="en-US" sz="1400" spc="-1" strike="noStrike">
                <a:solidFill>
                  <a:srgbClr val="16a34a"/>
                </a:solidFill>
                <a:latin typeface="Trebuchet MS"/>
                <a:ea typeface="Trebuchet MS"/>
              </a:rPr>
              <a:t>imza GEÇERLİ (true)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822960" y="4526280"/>
            <a:ext cx="10606680" cy="868320"/>
          </a:xfrm>
          <a:prstGeom prst="roundRect">
            <a:avLst>
              <a:gd name="adj" fmla="val 9474"/>
            </a:avLst>
          </a:prstGeom>
          <a:solidFill>
            <a:srgbClr val="fde5e5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1097280" y="4727520"/>
            <a:ext cx="456840" cy="456840"/>
          </a:xfrm>
          <a:prstGeom prst="ellipse">
            <a:avLst/>
          </a:prstGeom>
          <a:solidFill>
            <a:srgbClr val="dc262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Image 2" descr="preencoded.png"/>
          <p:cNvPicPr/>
          <p:nvPr/>
        </p:nvPicPr>
        <p:blipFill>
          <a:blip r:embed="rId3"/>
          <a:stretch/>
        </p:blipFill>
        <p:spPr>
          <a:xfrm>
            <a:off x="1202400" y="483264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138" name="Text 20"/>
          <p:cNvSpPr/>
          <p:nvPr/>
        </p:nvSpPr>
        <p:spPr>
          <a:xfrm>
            <a:off x="1737360" y="4526280"/>
            <a:ext cx="9509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Calibri"/>
                <a:ea typeface="Calibri"/>
              </a:rPr>
              <a:t>Biri bile tutmazsa  →  </a:t>
            </a:r>
            <a:r>
              <a:rPr b="1" lang="en-US" sz="1400" spc="-1" strike="noStrike">
                <a:solidFill>
                  <a:srgbClr val="dc2626"/>
                </a:solidFill>
                <a:latin typeface="Trebuchet MS"/>
                <a:ea typeface="Trebuchet MS"/>
              </a:rPr>
              <a:t>GEÇERSİZ (false)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822960" y="55321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6b86"/>
                </a:solidFill>
                <a:latin typeface="Calibri"/>
                <a:ea typeface="Calibri"/>
              </a:rPr>
              <a:t>Bu, kontrattaki verifyLamport fonksiyonunun tam olarak yaptığı iştir.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Neden Tek-Kullanımlık? + Anahtar Rotasyonu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640080" y="1645920"/>
            <a:ext cx="5348880" cy="3657240"/>
          </a:xfrm>
          <a:prstGeom prst="roundRect">
            <a:avLst>
              <a:gd name="adj" fmla="val 2250"/>
            </a:avLst>
          </a:prstGeom>
          <a:solidFill>
            <a:srgbClr val="fde5e5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960120" y="1965960"/>
            <a:ext cx="621360" cy="621360"/>
          </a:xfrm>
          <a:prstGeom prst="ellipse">
            <a:avLst/>
          </a:prstGeom>
          <a:solidFill>
            <a:srgbClr val="dc262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1"/>
          <a:stretch/>
        </p:blipFill>
        <p:spPr>
          <a:xfrm>
            <a:off x="1103040" y="210888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145" name="Text 4"/>
          <p:cNvSpPr/>
          <p:nvPr/>
        </p:nvSpPr>
        <p:spPr>
          <a:xfrm>
            <a:off x="1783080" y="19933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dc2626"/>
                </a:solidFill>
                <a:latin typeface="Trebuchet MS"/>
                <a:ea typeface="Trebuchet MS"/>
              </a:rPr>
              <a:t>Tehlike: ikinci imza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960120" y="278892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Bir imza, her bit için gizli değerin yalnızca yarısını açığa çıkarır.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Aynı anahtarla ikinci kez imzalarsan farklı bitler için daha çok gizli değer sızar.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Saldırgan sızan parçaları birleştirip kendi mesajı için SAHTE imza üretebilir.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6172200" y="1645920"/>
            <a:ext cx="5394600" cy="3657240"/>
          </a:xfrm>
          <a:prstGeom prst="roundRect">
            <a:avLst>
              <a:gd name="adj" fmla="val 2250"/>
            </a:avLst>
          </a:prstGeom>
          <a:solidFill>
            <a:srgbClr val="dcfce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6492240" y="1965960"/>
            <a:ext cx="621360" cy="621360"/>
          </a:xfrm>
          <a:prstGeom prst="ellipse">
            <a:avLst/>
          </a:prstGeom>
          <a:solidFill>
            <a:srgbClr val="16a34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9" name="Image 1" descr="preencoded.png"/>
          <p:cNvPicPr/>
          <p:nvPr/>
        </p:nvPicPr>
        <p:blipFill>
          <a:blip r:embed="rId2"/>
          <a:stretch/>
        </p:blipFill>
        <p:spPr>
          <a:xfrm>
            <a:off x="6635160" y="210888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150" name="Text 8"/>
          <p:cNvSpPr/>
          <p:nvPr/>
        </p:nvSpPr>
        <p:spPr>
          <a:xfrm>
            <a:off x="7315200" y="19933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a34a"/>
                </a:solidFill>
                <a:latin typeface="Trebuchet MS"/>
                <a:ea typeface="Trebuchet MS"/>
              </a:rPr>
              <a:t>Çözüm: anahtar rotasyonu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492240" y="2788920"/>
            <a:ext cx="4800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Her imzadan (transferden) sonra YENİ bir anahtara geçilir.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Token'da: her transfer, bir sonraki açık-anahtar taahhüdünü (nextCommitment) belirtir.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0f172a"/>
                </a:solidFill>
                <a:latin typeface="Calibri"/>
                <a:ea typeface="Calibri"/>
              </a:rPr>
              <a:t>Eski anahtar bir daha asla kullanılmaz → güvenlik korunur.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720000" y="14814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24a"/>
                </a:solidFill>
                <a:latin typeface="Calibri"/>
                <a:ea typeface="Calibri"/>
              </a:rPr>
              <a:t>ERC-20 benzeri bir token</a:t>
            </a:r>
            <a:r>
              <a:rPr b="0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  —  ama transferleri ECDSA değil, </a:t>
            </a:r>
            <a:r>
              <a:rPr b="1" lang="en-US" sz="1500" spc="-1" strike="noStrike">
                <a:solidFill>
                  <a:srgbClr val="0e7490"/>
                </a:solidFill>
                <a:latin typeface="Calibri"/>
                <a:ea typeface="Calibri"/>
              </a:rPr>
              <a:t>Lamport imzası</a:t>
            </a:r>
            <a:r>
              <a:rPr b="0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 yetkilendirir.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777240" y="2103120"/>
            <a:ext cx="3200040" cy="2148480"/>
          </a:xfrm>
          <a:prstGeom prst="roundRect">
            <a:avLst>
              <a:gd name="adj" fmla="val 383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1974960" y="2359080"/>
            <a:ext cx="804240" cy="804240"/>
          </a:xfrm>
          <a:prstGeom prst="ellipse">
            <a:avLst/>
          </a:prstGeom>
          <a:solidFill>
            <a:srgbClr val="1e2a52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Image 0" descr="preencoded.png"/>
          <p:cNvPicPr/>
          <p:nvPr/>
        </p:nvPicPr>
        <p:blipFill>
          <a:blip r:embed="rId1"/>
          <a:stretch/>
        </p:blipFill>
        <p:spPr>
          <a:xfrm>
            <a:off x="2160000" y="25441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157" name="Text 5"/>
          <p:cNvSpPr/>
          <p:nvPr/>
        </p:nvSpPr>
        <p:spPr>
          <a:xfrm>
            <a:off x="960120" y="3310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24a"/>
                </a:solidFill>
                <a:latin typeface="Consolas"/>
                <a:ea typeface="Consolas"/>
              </a:rPr>
              <a:t>register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1005840" y="3694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Hesap açık anahtar taahhüdü + başlangıç bakiyesiyle kaydolur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3977640" y="30175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4572000" y="2103120"/>
            <a:ext cx="3200040" cy="2148480"/>
          </a:xfrm>
          <a:prstGeom prst="roundRect">
            <a:avLst>
              <a:gd name="adj" fmla="val 383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5769720" y="2359080"/>
            <a:ext cx="804240" cy="804240"/>
          </a:xfrm>
          <a:prstGeom prst="ellipse">
            <a:avLst/>
          </a:prstGeom>
          <a:solidFill>
            <a:srgbClr val="0e7490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5954760" y="25441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163" name="Text 10"/>
          <p:cNvSpPr/>
          <p:nvPr/>
        </p:nvSpPr>
        <p:spPr>
          <a:xfrm>
            <a:off x="4754880" y="3310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24a"/>
                </a:solidFill>
                <a:latin typeface="Consolas"/>
                <a:ea typeface="Consolas"/>
              </a:rPr>
              <a:t>transfer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4800600" y="3694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İmza doğrulanır, token taşınır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7772400" y="30175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2d3ee"/>
                </a:solidFill>
                <a:latin typeface="Calibri"/>
              </a:rPr>
              <a:t>→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8366760" y="2103120"/>
            <a:ext cx="3200040" cy="2148480"/>
          </a:xfrm>
          <a:prstGeom prst="roundRect">
            <a:avLst>
              <a:gd name="adj" fmla="val 383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9564480" y="2359080"/>
            <a:ext cx="804240" cy="804240"/>
          </a:xfrm>
          <a:prstGeom prst="ellipse">
            <a:avLst/>
          </a:prstGeom>
          <a:solidFill>
            <a:srgbClr val="a78bf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2" descr="preencoded.png"/>
          <p:cNvPicPr/>
          <p:nvPr/>
        </p:nvPicPr>
        <p:blipFill>
          <a:blip r:embed="rId3"/>
          <a:stretch/>
        </p:blipFill>
        <p:spPr>
          <a:xfrm>
            <a:off x="9749520" y="254412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169" name="Text 15"/>
          <p:cNvSpPr/>
          <p:nvPr/>
        </p:nvSpPr>
        <p:spPr>
          <a:xfrm>
            <a:off x="8549640" y="3310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24a"/>
                </a:solidFill>
                <a:latin typeface="Consolas"/>
                <a:ea typeface="Consolas"/>
              </a:rPr>
              <a:t>rotate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8595360" y="3694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Anahtar döner, nonce artar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777240" y="4572000"/>
            <a:ext cx="10789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Her hesap, açık anahtarının kısa bir TAAHHÜDÜNÜ (commitment) saklar — tüm anahtarı değil.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Transfer akışı: taahhüt kontrolü → imza doğrulama → bakiye → token taşıma → anahtar rotasyonu.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2a6099"/>
                </a:solidFill>
                <a:latin typeface="Trebuchet MS"/>
                <a:ea typeface="Trebuchet MS"/>
              </a:rPr>
              <a:t>verifyLamport — Doğrulamanın Kalbi</a:t>
            </a:r>
            <a:endParaRPr b="0" lang="tr-TR" sz="2700" spc="-1" strike="noStrike">
              <a:solidFill>
                <a:srgbClr val="2a6099"/>
              </a:solidFill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548640" y="1325880"/>
            <a:ext cx="6903360" cy="5074560"/>
          </a:xfrm>
          <a:prstGeom prst="roundRect">
            <a:avLst>
              <a:gd name="adj" fmla="val 1622"/>
            </a:avLst>
          </a:prstGeom>
          <a:solidFill>
            <a:srgbClr val="111a3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868680" y="1554480"/>
            <a:ext cx="64004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function </a:t>
            </a: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verifyLamport(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bytes32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msgHash,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bytes32[256]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calldata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signature,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bytes32[256]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calldata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pk0,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bytes32[256]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calldata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pk1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)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public pure returns (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bool</a:t>
            </a: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) {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for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(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uint256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i = </a:t>
            </a:r>
            <a:r>
              <a:rPr b="0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0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; i &lt; </a:t>
            </a:r>
            <a:r>
              <a:rPr b="0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N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; i++) {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        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uint256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bit = (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uint256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(msgHash) </a:t>
            </a:r>
            <a:r>
              <a:rPr b="0" lang="en-US" sz="1300" spc="-1" strike="noStrike">
                <a:solidFill>
                  <a:srgbClr val="22d3ee"/>
                </a:solidFill>
                <a:latin typeface="Consolas"/>
                <a:ea typeface="Consolas"/>
              </a:rPr>
              <a:t>&gt;&gt; i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) </a:t>
            </a:r>
            <a:r>
              <a:rPr b="0" lang="en-US" sz="1300" spc="-1" strike="noStrike">
                <a:solidFill>
                  <a:srgbClr val="22d3ee"/>
                </a:solidFill>
                <a:latin typeface="Consolas"/>
                <a:ea typeface="Consolas"/>
              </a:rPr>
              <a:t>&amp; 1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;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        </a:t>
            </a:r>
            <a:r>
              <a:rPr b="0" lang="en-US" sz="1300" spc="-1" strike="noStrike">
                <a:solidFill>
                  <a:srgbClr val="c4b5fd"/>
                </a:solidFill>
                <a:latin typeface="Consolas"/>
                <a:ea typeface="Consolas"/>
              </a:rPr>
              <a:t>bytes32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expected = </a:t>
            </a:r>
            <a:r>
              <a:rPr b="0" lang="en-US" sz="1300" spc="-1" strike="noStrike">
                <a:solidFill>
                  <a:srgbClr val="22d3ee"/>
                </a:solidFill>
                <a:latin typeface="Consolas"/>
                <a:ea typeface="Consolas"/>
              </a:rPr>
              <a:t>bit == 0 ? pk0[i] : pk1[i]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;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       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if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(</a:t>
            </a:r>
            <a:r>
              <a:rPr b="0" lang="en-US" sz="1300" spc="-1" strike="noStrike">
                <a:solidFill>
                  <a:srgbClr val="22d3ee"/>
                </a:solidFill>
                <a:latin typeface="Consolas"/>
                <a:ea typeface="Consolas"/>
              </a:rPr>
              <a:t>sha256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(</a:t>
            </a:r>
            <a:r>
              <a:rPr b="0" lang="en-US" sz="1300" spc="-1" strike="noStrike">
                <a:solidFill>
                  <a:srgbClr val="22d3ee"/>
                </a:solidFill>
                <a:latin typeface="Consolas"/>
                <a:ea typeface="Consolas"/>
              </a:rPr>
              <a:t>abi.encodePacked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(signature[i]))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               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!= expected) {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           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return</a:t>
            </a:r>
            <a:r>
              <a:rPr b="0" lang="en-US" sz="1300" spc="-1" strike="noStrike">
                <a:solidFill>
                  <a:srgbClr val="fca5a5"/>
                </a:solidFill>
                <a:latin typeface="Consolas"/>
                <a:ea typeface="Consolas"/>
              </a:rPr>
              <a:t> false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;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       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}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}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5eead4"/>
                </a:solidFill>
                <a:latin typeface="Consolas"/>
                <a:ea typeface="Consolas"/>
              </a:rPr>
              <a:t>return</a:t>
            </a:r>
            <a:r>
              <a:rPr b="0" lang="en-US" sz="1300" spc="-1" strike="noStrike">
                <a:solidFill>
                  <a:srgbClr val="86efac"/>
                </a:solidFill>
                <a:latin typeface="Consolas"/>
                <a:ea typeface="Consolas"/>
              </a:rPr>
              <a:t> true</a:t>
            </a: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;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nsolas"/>
                <a:ea typeface="Consolas"/>
              </a:rPr>
              <a:t>}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7680960" y="1417320"/>
            <a:ext cx="3977280" cy="150840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7909560" y="1645920"/>
            <a:ext cx="456840" cy="4568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90956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a0e27"/>
                </a:solidFill>
                <a:latin typeface="Trebuchet MS"/>
                <a:ea typeface="Trebuchet MS"/>
              </a:rPr>
              <a:t>1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8503920" y="16642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2d3ee"/>
                </a:solidFill>
                <a:latin typeface="Trebuchet MS"/>
                <a:ea typeface="Trebuchet MS"/>
              </a:rPr>
              <a:t>Biti çek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7909560" y="2167200"/>
            <a:ext cx="3565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2cce6"/>
                </a:solidFill>
                <a:latin typeface="Calibri"/>
                <a:ea typeface="Calibri"/>
              </a:rPr>
              <a:t>msgHash'in i. bitini al → 0 ya da 1.  (&gt;&gt; i ile kaydır, &amp; 1 ile son biti oku)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7680960" y="3108960"/>
            <a:ext cx="3977280" cy="150840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7909560" y="3337560"/>
            <a:ext cx="456840" cy="4568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7909560" y="333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a0e27"/>
                </a:solidFill>
                <a:latin typeface="Trebuchet MS"/>
                <a:ea typeface="Trebuchet MS"/>
              </a:rPr>
              <a:t>2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503920" y="33559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2d3ee"/>
                </a:solidFill>
                <a:latin typeface="Trebuchet MS"/>
                <a:ea typeface="Trebuchet MS"/>
              </a:rPr>
              <a:t>Yarıyı seç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7909560" y="3858840"/>
            <a:ext cx="3565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2cce6"/>
                </a:solidFill>
                <a:latin typeface="Calibri"/>
                <a:ea typeface="Calibri"/>
              </a:rPr>
              <a:t>bit 0 ise pk0[i], bit 1 ise pk1[i] beklenir — doğru açık-anahtar yarısı.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7680960" y="4800600"/>
            <a:ext cx="3977280" cy="150840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7909560" y="5029200"/>
            <a:ext cx="456840" cy="4568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7909560" y="5029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a0e27"/>
                </a:solidFill>
                <a:latin typeface="Trebuchet MS"/>
                <a:ea typeface="Trebuchet MS"/>
              </a:rPr>
              <a:t>3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8503920" y="50475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2d3ee"/>
                </a:solidFill>
                <a:latin typeface="Trebuchet MS"/>
                <a:ea typeface="Trebuchet MS"/>
              </a:rPr>
              <a:t>Karşılaştır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8"/>
          <p:cNvSpPr/>
          <p:nvPr/>
        </p:nvSpPr>
        <p:spPr>
          <a:xfrm>
            <a:off x="7909560" y="5550480"/>
            <a:ext cx="3565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2cce6"/>
                </a:solidFill>
                <a:latin typeface="Calibri"/>
                <a:ea typeface="Calibri"/>
              </a:rPr>
              <a:t>imzadaki değeri sha256'la; beklenenle tutmazsa hemen false. 256 bit de tutarsa → true.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transfer: Güvenlik Sırası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640080" y="1527120"/>
            <a:ext cx="475200" cy="475200"/>
          </a:xfrm>
          <a:prstGeom prst="ellipse">
            <a:avLst/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640080" y="15271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1280160" y="144468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Trebuchet MS"/>
                <a:ea typeface="Trebuchet MS"/>
              </a:rPr>
              <a:t>Geçerli alıcı  </a:t>
            </a:r>
            <a:r>
              <a:rPr b="0" lang="en-US" sz="1250" spc="-1" strike="noStrike">
                <a:solidFill>
                  <a:srgbClr val="0e7490"/>
                </a:solidFill>
                <a:latin typeface="Consolas"/>
                <a:ea typeface="Consolas"/>
              </a:rPr>
              <a:t>to != address(0)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1280160" y="181044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sıfır adrese (kayıp) transferi engeller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640080" y="2313360"/>
            <a:ext cx="475200" cy="47520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640080" y="23133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1280160" y="223128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Trebuchet MS"/>
                <a:ea typeface="Trebuchet MS"/>
              </a:rPr>
              <a:t>Doğru anahtar  </a:t>
            </a:r>
            <a:r>
              <a:rPr b="0" lang="en-US" sz="1250" spc="-1" strike="noStrike">
                <a:solidFill>
                  <a:srgbClr val="0e7490"/>
                </a:solidFill>
                <a:latin typeface="Consolas"/>
                <a:ea typeface="Consolas"/>
              </a:rPr>
              <a:t>keccak256(pk0, pk1) == publicKeyCommitment[gönderen]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1280160" y="259704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yalnızca gerçek anahtar sahibi harcayabilir — sahteciliği önler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640080" y="3099960"/>
            <a:ext cx="475200" cy="47520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640080" y="30999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1280160" y="301752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Trebuchet MS"/>
                <a:ea typeface="Trebuchet MS"/>
              </a:rPr>
              <a:t>Mesajı bağla  </a:t>
            </a:r>
            <a:r>
              <a:rPr b="0" lang="en-US" sz="1250" spc="-1" strike="noStrike">
                <a:solidFill>
                  <a:srgbClr val="0e7490"/>
                </a:solidFill>
                <a:latin typeface="Consolas"/>
                <a:ea typeface="Consolas"/>
              </a:rPr>
              <a:t>msgHash = sha256(gönderen, to, amount, nonce, yeniTaahhüt)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1280160" y="338328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imza bu transfere özgü olur — başkasına kopyalanamaz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640080" y="3886200"/>
            <a:ext cx="475200" cy="475200"/>
          </a:xfrm>
          <a:prstGeom prst="ellipse">
            <a:avLst/>
          </a:prstGeom>
          <a:solidFill>
            <a:srgbClr val="1e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640080" y="3886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1280160" y="380376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Trebuchet MS"/>
                <a:ea typeface="Trebuchet MS"/>
              </a:rPr>
              <a:t>İmzayı doğrula  </a:t>
            </a:r>
            <a:r>
              <a:rPr b="0" lang="en-US" sz="1250" spc="-1" strike="noStrike">
                <a:solidFill>
                  <a:srgbClr val="0e7490"/>
                </a:solidFill>
                <a:latin typeface="Consolas"/>
                <a:ea typeface="Consolas"/>
              </a:rPr>
              <a:t>require( verifyLamport(msgHash, signature, pk0, pk1) )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1280160" y="416952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256-bit Lamport doğrulaması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>
            <a:off x="640080" y="4672440"/>
            <a:ext cx="475200" cy="47520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640080" y="46724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5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1280160" y="459036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Trebuchet MS"/>
                <a:ea typeface="Trebuchet MS"/>
              </a:rPr>
              <a:t>Yeterli bakiye  </a:t>
            </a:r>
            <a:r>
              <a:rPr b="0" lang="en-US" sz="1250" spc="-1" strike="noStrike">
                <a:solidFill>
                  <a:srgbClr val="0e7490"/>
                </a:solidFill>
                <a:latin typeface="Consolas"/>
                <a:ea typeface="Consolas"/>
              </a:rPr>
              <a:t>require( balanceOf[gönderen] &gt;= amount )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1280160" y="495612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bakiyeden fazlası gönderilemez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640080" y="5459040"/>
            <a:ext cx="475200" cy="4752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3"/>
          <p:cNvSpPr/>
          <p:nvPr/>
        </p:nvSpPr>
        <p:spPr>
          <a:xfrm>
            <a:off x="640080" y="5459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6</a:t>
            </a:r>
            <a:endParaRPr b="0" lang="tr-T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1280160" y="537660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24a"/>
                </a:solidFill>
                <a:latin typeface="Trebuchet MS"/>
                <a:ea typeface="Trebuchet MS"/>
              </a:rPr>
              <a:t>Uygula  </a:t>
            </a:r>
            <a:r>
              <a:rPr b="0" lang="en-US" sz="1250" spc="-1" strike="noStrike">
                <a:solidFill>
                  <a:srgbClr val="0e7490"/>
                </a:solidFill>
                <a:latin typeface="Consolas"/>
                <a:ea typeface="Consolas"/>
              </a:rPr>
              <a:t>taşı · taahhüdü döndür (rotate) · nonce++ · Transfer yay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5"/>
          <p:cNvSpPr/>
          <p:nvPr/>
        </p:nvSpPr>
        <p:spPr>
          <a:xfrm>
            <a:off x="1280160" y="574236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86"/>
                </a:solidFill>
                <a:latin typeface="Calibri"/>
                <a:ea typeface="Calibri"/>
              </a:rPr>
              <a:t>eski anahtar bir daha kullanılamaz → replay engellenir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Replay (Tekrar) Saldırısına Karşı Koruma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640080" y="1691640"/>
            <a:ext cx="3520080" cy="3108600"/>
          </a:xfrm>
          <a:prstGeom prst="roundRect">
            <a:avLst>
              <a:gd name="adj" fmla="val 2647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951120" y="2011680"/>
            <a:ext cx="676440" cy="676440"/>
          </a:xfrm>
          <a:prstGeom prst="ellipse">
            <a:avLst/>
          </a:prstGeom>
          <a:solidFill>
            <a:srgbClr val="1e2a52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1" name="Image 0" descr="preencoded.png"/>
          <p:cNvPicPr/>
          <p:nvPr/>
        </p:nvPicPr>
        <p:blipFill>
          <a:blip r:embed="rId1"/>
          <a:stretch/>
        </p:blipFill>
        <p:spPr>
          <a:xfrm>
            <a:off x="1106640" y="21672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22" name="Text 4"/>
          <p:cNvSpPr/>
          <p:nvPr/>
        </p:nvSpPr>
        <p:spPr>
          <a:xfrm>
            <a:off x="914400" y="285300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24a"/>
                </a:solidFill>
                <a:latin typeface="Trebuchet MS"/>
                <a:ea typeface="Trebuchet MS"/>
              </a:rPr>
              <a:t>Nonce sayacı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932760" y="331020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Her transferde artar → mesaj hash'i değişir → eski imza yeni transferde geçersiz olur.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4279320" y="1691640"/>
            <a:ext cx="3520080" cy="3108600"/>
          </a:xfrm>
          <a:prstGeom prst="roundRect">
            <a:avLst>
              <a:gd name="adj" fmla="val 2647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4590360" y="2011680"/>
            <a:ext cx="676440" cy="676440"/>
          </a:xfrm>
          <a:prstGeom prst="ellipse">
            <a:avLst/>
          </a:prstGeom>
          <a:solidFill>
            <a:srgbClr val="0e7490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6" name="Image 1" descr="preencoded.png"/>
          <p:cNvPicPr/>
          <p:nvPr/>
        </p:nvPicPr>
        <p:blipFill>
          <a:blip r:embed="rId2"/>
          <a:stretch/>
        </p:blipFill>
        <p:spPr>
          <a:xfrm>
            <a:off x="4745880" y="21672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27" name="Text 8"/>
          <p:cNvSpPr/>
          <p:nvPr/>
        </p:nvSpPr>
        <p:spPr>
          <a:xfrm>
            <a:off x="4553640" y="285300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24a"/>
                </a:solidFill>
                <a:latin typeface="Trebuchet MS"/>
                <a:ea typeface="Trebuchet MS"/>
              </a:rPr>
              <a:t>Anahtar rotasyonu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4572000" y="331020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Transfer sonrası taahhüt değişir → eski anahtar tekrar kullanılamaz (“Public key mismatch”).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7918560" y="1691640"/>
            <a:ext cx="3520080" cy="3108600"/>
          </a:xfrm>
          <a:prstGeom prst="roundRect">
            <a:avLst>
              <a:gd name="adj" fmla="val 2647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8229600" y="2011680"/>
            <a:ext cx="676440" cy="676440"/>
          </a:xfrm>
          <a:prstGeom prst="ellipse">
            <a:avLst/>
          </a:prstGeom>
          <a:solidFill>
            <a:srgbClr val="a78bf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Image 2" descr="preencoded.png"/>
          <p:cNvPicPr/>
          <p:nvPr/>
        </p:nvPicPr>
        <p:blipFill>
          <a:blip r:embed="rId3"/>
          <a:stretch/>
        </p:blipFill>
        <p:spPr>
          <a:xfrm>
            <a:off x="8385120" y="21672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2" name="Text 12"/>
          <p:cNvSpPr/>
          <p:nvPr/>
        </p:nvSpPr>
        <p:spPr>
          <a:xfrm>
            <a:off x="8192880" y="285300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24a"/>
                </a:solidFill>
                <a:latin typeface="Trebuchet MS"/>
                <a:ea typeface="Trebuchet MS"/>
              </a:rPr>
              <a:t>Mesaj bağlama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8211240" y="331020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İmza belirli alıcı + miktar + nonce'a bağlıdır → başka bir transfere kopyalanamaz.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640080" y="5029200"/>
            <a:ext cx="10926720" cy="1051200"/>
          </a:xfrm>
          <a:prstGeom prst="roundRect">
            <a:avLst>
              <a:gd name="adj" fmla="val 7826"/>
            </a:avLst>
          </a:prstGeom>
          <a:solidFill>
            <a:srgbClr val="dcfce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960120" y="5285160"/>
            <a:ext cx="529920" cy="529920"/>
          </a:xfrm>
          <a:prstGeom prst="ellipse">
            <a:avLst/>
          </a:prstGeom>
          <a:solidFill>
            <a:srgbClr val="16a34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6" name="Image 3" descr="preencoded.png"/>
          <p:cNvPicPr/>
          <p:nvPr/>
        </p:nvPicPr>
        <p:blipFill>
          <a:blip r:embed="rId4"/>
          <a:stretch/>
        </p:blipFill>
        <p:spPr>
          <a:xfrm>
            <a:off x="1082160" y="5407200"/>
            <a:ext cx="286200" cy="286200"/>
          </a:xfrm>
          <a:prstGeom prst="rect">
            <a:avLst/>
          </a:prstGeom>
          <a:ln w="0">
            <a:noFill/>
          </a:ln>
        </p:spPr>
      </p:pic>
      <p:sp>
        <p:nvSpPr>
          <p:cNvPr id="237" name="Text 16"/>
          <p:cNvSpPr/>
          <p:nvPr/>
        </p:nvSpPr>
        <p:spPr>
          <a:xfrm>
            <a:off x="1645920" y="5074920"/>
            <a:ext cx="96922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a34a"/>
                </a:solidFill>
                <a:latin typeface="Consolas"/>
                <a:ea typeface="Consolas"/>
              </a:rPr>
              <a:t>test_ReplayAfterRotationFails </a:t>
            </a:r>
            <a:r>
              <a:rPr b="0" lang="en-US" sz="1350" spc="-1" strike="noStrike">
                <a:solidFill>
                  <a:srgbClr val="16224a"/>
                </a:solidFill>
                <a:latin typeface="Calibri"/>
                <a:ea typeface="Calibri"/>
              </a:rPr>
              <a:t>bunu kanıtlar: rotasyondan sonra eski anahtarla yapılan transfer “Public key mismatch” ile reddedilir.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Test: Foundry ile Doğrulama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0" name="Table 0"/>
          <p:cNvGraphicFramePr/>
          <p:nvPr/>
        </p:nvGraphicFramePr>
        <p:xfrm>
          <a:off x="640080" y="1691640"/>
          <a:ext cx="7680600" cy="3584160"/>
        </p:xfrm>
        <a:graphic>
          <a:graphicData uri="http://schemas.openxmlformats.org/drawingml/2006/table">
            <a:tbl>
              <a:tblPr/>
              <a:tblGrid>
                <a:gridCol w="3611880"/>
                <a:gridCol w="3154680"/>
                <a:gridCol w="914400"/>
              </a:tblGrid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</a:rPr>
                        <a:t>Test</a:t>
                      </a:r>
                      <a:endParaRPr b="0" lang="tr-T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</a:rPr>
                        <a:t>Ne doğrular</a:t>
                      </a:r>
                      <a:endParaRPr b="0" lang="tr-T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</a:rPr>
                        <a:t>Sonuç</a:t>
                      </a:r>
                      <a:endParaRPr b="0" lang="tr-T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1e2a52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test_Register</a:t>
                      </a:r>
                      <a:endParaRPr b="0" lang="tr-T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</a:rPr>
                        <a:t>Kayıt + başlangıç bakiyesi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test_TransferValid</a:t>
                      </a:r>
                      <a:endParaRPr b="0" lang="tr-T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</a:rPr>
                        <a:t>Geçerli imzayla transfer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test_TransferInvalidSignature</a:t>
                      </a:r>
                      <a:endParaRPr b="0" lang="tr-T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</a:rPr>
                        <a:t>Bozuk imza reddedilir (revert)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test_TransferInsufficientBalance</a:t>
                      </a:r>
                      <a:endParaRPr b="0" lang="tr-T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</a:rPr>
                        <a:t>Yetersiz bakiye reddedilir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test_ReplayAfterRotationFails</a:t>
                      </a:r>
                      <a:endParaRPr b="0" lang="tr-T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</a:rPr>
                        <a:t>Eski anahtar reddedilir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test_Custom</a:t>
                      </a:r>
                      <a:endParaRPr b="0" lang="tr-T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</a:rPr>
                        <a:t>Parametreli senaryo (env ile)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tr-T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9e2f1"/>
                      </a:solidFill>
                      <a:prstDash val="solid"/>
                    </a:lnL>
                    <a:lnR w="6480">
                      <a:solidFill>
                        <a:srgbClr val="d9e2f1"/>
                      </a:solidFill>
                      <a:prstDash val="solid"/>
                    </a:lnR>
                    <a:lnT w="6480">
                      <a:solidFill>
                        <a:srgbClr val="d9e2f1"/>
                      </a:solidFill>
                      <a:prstDash val="solid"/>
                    </a:lnT>
                    <a:lnB w="6480">
                      <a:solidFill>
                        <a:srgbClr val="d9e2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1" name="Shape 2"/>
          <p:cNvSpPr/>
          <p:nvPr/>
        </p:nvSpPr>
        <p:spPr>
          <a:xfrm>
            <a:off x="8641080" y="1691640"/>
            <a:ext cx="2925720" cy="3611520"/>
          </a:xfrm>
          <a:prstGeom prst="roundRect">
            <a:avLst>
              <a:gd name="adj" fmla="val 2813"/>
            </a:avLst>
          </a:prstGeom>
          <a:solidFill>
            <a:srgbClr val="0a0e2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8641080" y="2148840"/>
            <a:ext cx="2925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22d3ee"/>
                </a:solidFill>
                <a:latin typeface="Trebuchet MS"/>
                <a:ea typeface="Trebuchet MS"/>
              </a:rPr>
              <a:t>6 / 6</a:t>
            </a:r>
            <a:endParaRPr b="0" lang="tr-TR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8641080" y="32004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ffffff"/>
                </a:solidFill>
                <a:latin typeface="Trebuchet MS"/>
                <a:ea typeface="Trebuchet MS"/>
              </a:rPr>
              <a:t>TÜM TESTLER GEÇTİ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9464040" y="3703320"/>
            <a:ext cx="1279800" cy="27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8641080" y="3886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d3ee"/>
                </a:solidFill>
                <a:latin typeface="Consolas"/>
                <a:ea typeface="Consolas"/>
              </a:rPr>
              <a:t>forge test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8641080" y="429768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2cce6"/>
                </a:solidFill>
                <a:latin typeface="Calibri"/>
                <a:ea typeface="Calibri"/>
              </a:rPr>
              <a:t>birim testleri + revert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2cce6"/>
                </a:solidFill>
                <a:latin typeface="Calibri"/>
                <a:ea typeface="Calibri"/>
              </a:rPr>
              <a:t>senaryoları doğrular</a:t>
            </a:r>
            <a:endParaRPr b="0" lang="tr-T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640080" y="5577840"/>
            <a:ext cx="10926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Hem başarı yolu (geçerli transfer) hem de hata yolları (bozuk imza, yetersiz bakiye, replay) test edilir. test_Custom, eğitmenin kendi girdileriyle çalıştırabileceği parametreli bir senaryodur.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24a"/>
                </a:solidFill>
                <a:latin typeface="Trebuchet MS"/>
                <a:ea typeface="Trebuchet MS"/>
              </a:rPr>
              <a:t>Eksiler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640080" y="1691640"/>
            <a:ext cx="5284800" cy="182844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932760" y="1984320"/>
            <a:ext cx="621360" cy="621360"/>
          </a:xfrm>
          <a:prstGeom prst="ellipse">
            <a:avLst/>
          </a:prstGeom>
          <a:solidFill>
            <a:srgbClr val="d9770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2" name="Image 0" descr="preencoded.png"/>
          <p:cNvPicPr/>
          <p:nvPr/>
        </p:nvPicPr>
        <p:blipFill>
          <a:blip r:embed="rId1"/>
          <a:stretch/>
        </p:blipFill>
        <p:spPr>
          <a:xfrm>
            <a:off x="1075680" y="212724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253" name="Text 4"/>
          <p:cNvSpPr/>
          <p:nvPr/>
        </p:nvSpPr>
        <p:spPr>
          <a:xfrm>
            <a:off x="1737360" y="196596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6224a"/>
                </a:solidFill>
                <a:latin typeface="Trebuchet MS"/>
                <a:ea typeface="Trebuchet MS"/>
              </a:rPr>
              <a:t>Büyük boyut</a:t>
            </a:r>
            <a:endParaRPr b="0" lang="tr-T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951120" y="269748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İmza ~8 KB (256×32 byte), açık anahtar ~16 KB.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6263640" y="1691640"/>
            <a:ext cx="5284800" cy="182844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7"/>
          <p:cNvSpPr/>
          <p:nvPr/>
        </p:nvSpPr>
        <p:spPr>
          <a:xfrm>
            <a:off x="6556320" y="1984320"/>
            <a:ext cx="621360" cy="621360"/>
          </a:xfrm>
          <a:prstGeom prst="ellipse">
            <a:avLst/>
          </a:prstGeom>
          <a:solidFill>
            <a:srgbClr val="d9770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7" name="Image 1" descr="preencoded.png"/>
          <p:cNvPicPr/>
          <p:nvPr/>
        </p:nvPicPr>
        <p:blipFill>
          <a:blip r:embed="rId2"/>
          <a:stretch/>
        </p:blipFill>
        <p:spPr>
          <a:xfrm>
            <a:off x="6699240" y="212724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258" name="Text 8"/>
          <p:cNvSpPr/>
          <p:nvPr/>
        </p:nvSpPr>
        <p:spPr>
          <a:xfrm>
            <a:off x="7360920" y="196596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6224a"/>
                </a:solidFill>
                <a:latin typeface="Trebuchet MS"/>
                <a:ea typeface="Trebuchet MS"/>
              </a:rPr>
              <a:t>Tek kullanımlık</a:t>
            </a:r>
            <a:endParaRPr b="0" lang="tr-T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6574680" y="269748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Her transfer anahtar rotasyonu gerektirir; durum yönetimi artar.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640080" y="3749040"/>
            <a:ext cx="5284800" cy="182844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932760" y="4041720"/>
            <a:ext cx="621360" cy="621360"/>
          </a:xfrm>
          <a:prstGeom prst="ellipse">
            <a:avLst/>
          </a:prstGeom>
          <a:solidFill>
            <a:srgbClr val="d9770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2" name="Image 2" descr="preencoded.png"/>
          <p:cNvPicPr/>
          <p:nvPr/>
        </p:nvPicPr>
        <p:blipFill>
          <a:blip r:embed="rId3"/>
          <a:stretch/>
        </p:blipFill>
        <p:spPr>
          <a:xfrm>
            <a:off x="1075680" y="418464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263" name="Text 12"/>
          <p:cNvSpPr/>
          <p:nvPr/>
        </p:nvSpPr>
        <p:spPr>
          <a:xfrm>
            <a:off x="1737360" y="402336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6224a"/>
                </a:solidFill>
                <a:latin typeface="Trebuchet MS"/>
                <a:ea typeface="Trebuchet MS"/>
              </a:rPr>
              <a:t>Yüksek gas</a:t>
            </a:r>
            <a:endParaRPr b="0" lang="tr-T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951120" y="475488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256 sha256 + büyük calldata → işlem maliyeti yüksektir.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4"/>
          <p:cNvSpPr/>
          <p:nvPr/>
        </p:nvSpPr>
        <p:spPr>
          <a:xfrm>
            <a:off x="6263640" y="3749040"/>
            <a:ext cx="5284800" cy="182844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 w="12700">
            <a:solidFill>
              <a:srgbClr val="d9e2f1"/>
            </a:solidFill>
            <a:round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6556320" y="4041720"/>
            <a:ext cx="621360" cy="621360"/>
          </a:xfrm>
          <a:prstGeom prst="ellipse">
            <a:avLst/>
          </a:prstGeom>
          <a:solidFill>
            <a:srgbClr val="d97706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7" name="Image 3" descr="preencoded.png"/>
          <p:cNvPicPr/>
          <p:nvPr/>
        </p:nvPicPr>
        <p:blipFill>
          <a:blip r:embed="rId4"/>
          <a:stretch/>
        </p:blipFill>
        <p:spPr>
          <a:xfrm>
            <a:off x="6699240" y="4184640"/>
            <a:ext cx="335520" cy="335520"/>
          </a:xfrm>
          <a:prstGeom prst="rect">
            <a:avLst/>
          </a:prstGeom>
          <a:ln w="0">
            <a:noFill/>
          </a:ln>
        </p:spPr>
      </p:pic>
      <p:sp>
        <p:nvSpPr>
          <p:cNvPr id="268" name="Text 16"/>
          <p:cNvSpPr/>
          <p:nvPr/>
        </p:nvSpPr>
        <p:spPr>
          <a:xfrm>
            <a:off x="7360920" y="402336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6224a"/>
                </a:solidFill>
                <a:latin typeface="Trebuchet MS"/>
                <a:ea typeface="Trebuchet MS"/>
              </a:rPr>
              <a:t>Ölçeklenme</a:t>
            </a:r>
            <a:endParaRPr b="0" lang="tr-T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6574680" y="475488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86"/>
                </a:solidFill>
                <a:latin typeface="Calibri"/>
                <a:ea typeface="Calibri"/>
              </a:rPr>
              <a:t>Pratikte XMSS/SPHINCS+ veya kafes-tabanlı Dilithium tercih edilir.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8"/>
          <p:cNvSpPr/>
          <p:nvPr/>
        </p:nvSpPr>
        <p:spPr>
          <a:xfrm>
            <a:off x="640080" y="5760720"/>
            <a:ext cx="1092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567000" y="567000"/>
            <a:ext cx="182520" cy="182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896040" y="384120"/>
            <a:ext cx="10881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Trebuchet MS"/>
                <a:ea typeface="Trebuchet MS"/>
              </a:rPr>
              <a:t>Özet</a:t>
            </a:r>
            <a:endParaRPr b="0" lang="tr-TR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868680" y="1600200"/>
            <a:ext cx="548280" cy="548280"/>
          </a:xfrm>
          <a:prstGeom prst="ellipse">
            <a:avLst/>
          </a:prstGeom>
          <a:solidFill>
            <a:srgbClr val="0e7490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1" descr="preencoded.png"/>
          <p:cNvPicPr/>
          <p:nvPr/>
        </p:nvPicPr>
        <p:blipFill>
          <a:blip r:embed="rId1"/>
          <a:stretch/>
        </p:blipFill>
        <p:spPr>
          <a:xfrm>
            <a:off x="995040" y="1726560"/>
            <a:ext cx="295920" cy="295920"/>
          </a:xfrm>
          <a:prstGeom prst="rect">
            <a:avLst/>
          </a:prstGeom>
          <a:ln w="0">
            <a:noFill/>
          </a:ln>
        </p:spPr>
      </p:pic>
      <p:sp>
        <p:nvSpPr>
          <p:cNvPr id="275" name="Text 3"/>
          <p:cNvSpPr/>
          <p:nvPr/>
        </p:nvSpPr>
        <p:spPr>
          <a:xfrm>
            <a:off x="1645920" y="1545480"/>
            <a:ext cx="9509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ECDSA kuantum bilgisayarda kırılır; hash tabanlı Lamport post-kuantum güvenlidir.</a:t>
            </a:r>
            <a:endParaRPr b="0" lang="tr-T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868680" y="2441520"/>
            <a:ext cx="548280" cy="548280"/>
          </a:xfrm>
          <a:prstGeom prst="ellipse">
            <a:avLst/>
          </a:prstGeom>
          <a:solidFill>
            <a:srgbClr val="a78bf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Image 2" descr="preencoded.png"/>
          <p:cNvPicPr/>
          <p:nvPr/>
        </p:nvPicPr>
        <p:blipFill>
          <a:blip r:embed="rId2"/>
          <a:stretch/>
        </p:blipFill>
        <p:spPr>
          <a:xfrm>
            <a:off x="995040" y="2567520"/>
            <a:ext cx="295920" cy="295920"/>
          </a:xfrm>
          <a:prstGeom prst="rect">
            <a:avLst/>
          </a:prstGeom>
          <a:ln w="0">
            <a:noFill/>
          </a:ln>
        </p:spPr>
      </p:pic>
      <p:sp>
        <p:nvSpPr>
          <p:cNvPr id="278" name="Text 5"/>
          <p:cNvSpPr/>
          <p:nvPr/>
        </p:nvSpPr>
        <p:spPr>
          <a:xfrm>
            <a:off x="1645920" y="2386440"/>
            <a:ext cx="9509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Token transferleri Lamport imzasıyla yetkilendirilir; anahtar her transferde döner.</a:t>
            </a:r>
            <a:endParaRPr b="0" lang="tr-T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868680" y="3282840"/>
            <a:ext cx="548280" cy="548280"/>
          </a:xfrm>
          <a:prstGeom prst="ellipse">
            <a:avLst/>
          </a:prstGeom>
          <a:solidFill>
            <a:srgbClr val="0e7490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0" name="Image 3" descr="preencoded.png"/>
          <p:cNvPicPr/>
          <p:nvPr/>
        </p:nvPicPr>
        <p:blipFill>
          <a:blip r:embed="rId3"/>
          <a:stretch/>
        </p:blipFill>
        <p:spPr>
          <a:xfrm>
            <a:off x="995040" y="3408840"/>
            <a:ext cx="295920" cy="295920"/>
          </a:xfrm>
          <a:prstGeom prst="rect">
            <a:avLst/>
          </a:prstGeom>
          <a:ln w="0">
            <a:noFill/>
          </a:ln>
        </p:spPr>
      </p:pic>
      <p:sp>
        <p:nvSpPr>
          <p:cNvPr id="281" name="Text 7"/>
          <p:cNvSpPr/>
          <p:nvPr/>
        </p:nvSpPr>
        <p:spPr>
          <a:xfrm>
            <a:off x="1645920" y="3227760"/>
            <a:ext cx="9509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İki hash: SHA-256 (Lamport şeması) + keccak256 (kompakt zincir taahhüdü).</a:t>
            </a:r>
            <a:endParaRPr b="0" lang="tr-T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8"/>
          <p:cNvSpPr/>
          <p:nvPr/>
        </p:nvSpPr>
        <p:spPr>
          <a:xfrm>
            <a:off x="868680" y="4123800"/>
            <a:ext cx="548280" cy="548280"/>
          </a:xfrm>
          <a:prstGeom prst="ellipse">
            <a:avLst/>
          </a:prstGeom>
          <a:solidFill>
            <a:srgbClr val="a78bf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e2a52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mage 4" descr="preencoded.png"/>
          <p:cNvPicPr/>
          <p:nvPr/>
        </p:nvPicPr>
        <p:blipFill>
          <a:blip r:embed="rId4"/>
          <a:stretch/>
        </p:blipFill>
        <p:spPr>
          <a:xfrm>
            <a:off x="995040" y="4250160"/>
            <a:ext cx="295920" cy="295920"/>
          </a:xfrm>
          <a:prstGeom prst="rect">
            <a:avLst/>
          </a:prstGeom>
          <a:ln w="0">
            <a:noFill/>
          </a:ln>
        </p:spPr>
      </p:pic>
      <p:sp>
        <p:nvSpPr>
          <p:cNvPr id="284" name="Text 9"/>
          <p:cNvSpPr/>
          <p:nvPr/>
        </p:nvSpPr>
        <p:spPr>
          <a:xfrm>
            <a:off x="1645920" y="4069080"/>
            <a:ext cx="9509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Nonce + rotasyon + mesaj bağlama ile replay ve sahtecilik engellenir.</a:t>
            </a:r>
            <a:endParaRPr b="0" lang="tr-T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1645920" y="4910400"/>
            <a:ext cx="9509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2"/>
          <p:cNvSpPr/>
          <p:nvPr/>
        </p:nvSpPr>
        <p:spPr>
          <a:xfrm>
            <a:off x="868680" y="5943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2026-06-08T11:42:58Z</dcterms:created>
  <dc:creator>Ahmet Murat Sencay</dc:creator>
  <dc:description/>
  <dc:language>tr-TR</dc:language>
  <cp:lastModifiedBy/>
  <dcterms:modified xsi:type="dcterms:W3CDTF">2026-06-08T19:44:04Z</dcterms:modified>
  <cp:revision>2</cp:revision>
  <dc:subject>PptxGenJS Presentation</dc:subject>
  <dc:title>Post-Quantum Token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